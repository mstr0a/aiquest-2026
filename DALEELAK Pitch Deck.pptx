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2" r:id="rId7"/>
    <p:sldId id="268" r:id="rId8"/>
    <p:sldId id="266"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1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806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idea: DALEELAK, Arabic for "your guide", helps people describe what they need in everyday language and walks them through the documented procedure step by step. Fill in team and presenter names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pain without inventing statistics: the issue is uncertainty about what to do, what to bring and where to go. Example: replacing a lost family book needs a police loss report before the service itself.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DALEELAK means "your guide". The user describes the problem in everyday Arabic, English or a mix; the assistant only asks what changes the documented route, then hands back a plan.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Stress that browsing future cards never marks them done or skips prerequisites, and that progress is user-reported because there is no government status feed.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follows a Jordanian citizen replacing a lost family book, grounded in the CSPD electronic service card. The screenshot shows the partial plan: the police-report prerequisite and the electronic route are confirmed, and the missing details are listed openly instead of guessed.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differentiator for judges. Government guidance comes only from reviewed records such as the CSPD service card and 2024 services guide. The model never invents fees, formats, locations or outcomes, and it does not build a personal profile.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This answers the scalability question directly. Either path works because the core does not change. Mention that MoDEE's published AI implementation plan proposes conversational and voice features for Sanad, so DALEELAK fits a direction the government has already described. Do not claim a partnership exists.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intended outcome, phrased as intent rather than a measured result: less uncertainty for citizens. Then invite questions and show the live demo if not already done.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8FA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121"/>
            <a:ext cx="10045700" cy="502920"/>
          </a:xfrm>
          <a:prstGeom prst="rect">
            <a:avLst/>
          </a:prstGeom>
          <a:noFill/>
          <a:ln/>
        </p:spPr>
        <p:txBody>
          <a:bodyPr wrap="square" lIns="0" tIns="0" rIns="0" bIns="0" rtlCol="0" anchor="t"/>
          <a:lstStyle>
            <a:lvl1pPr marL="0" indent="0" algn="l">
              <a:lnSpc>
                <a:spcPct val="115000"/>
              </a:lnSpc>
              <a:buNone/>
              <a:defRPr lang="en-US" sz="3600" dirty="0">
                <a:solidFill>
                  <a:srgbClr val="0F172A"/>
                </a:solidFill>
                <a:latin typeface="Public Sans" pitchFamily="34" charset="0"/>
                <a:ea typeface="Public Sans" pitchFamily="34" charset="-122"/>
                <a:cs typeface="Public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021841"/>
            <a:ext cx="10566400" cy="4023359"/>
          </a:xfrm>
          <a:prstGeom prst="rect">
            <a:avLst/>
          </a:prstGeom>
          <a:noFill/>
          <a:ln/>
        </p:spPr>
        <p:txBody>
          <a:bodyPr wrap="square" lIns="0" tIns="0" rIns="0" bIns="0" rtlCol="0" anchor="t"/>
          <a:lstStyle>
            <a:lvl1pPr marL="0" indent="0" algn="l">
              <a:lnSpc>
                <a:spcPct val="140000"/>
              </a:lnSpc>
              <a:buNone/>
              <a:defRPr lang="en-US" sz="1600" dirty="0">
                <a:solidFill>
                  <a:srgbClr val="141413"/>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121"/>
            <a:ext cx="10045700" cy="502920"/>
          </a:xfrm>
          <a:prstGeom prst="rect">
            <a:avLst/>
          </a:prstGeom>
          <a:noFill/>
          <a:ln/>
        </p:spPr>
        <p:txBody>
          <a:bodyPr wrap="square" lIns="0" tIns="0" rIns="0" bIns="0" rtlCol="0" anchor="t"/>
          <a:lstStyle>
            <a:lvl1pPr marL="0" indent="0" algn="l">
              <a:lnSpc>
                <a:spcPct val="115000"/>
              </a:lnSpc>
              <a:buNone/>
              <a:defRPr lang="en-US" sz="3600" dirty="0">
                <a:solidFill>
                  <a:srgbClr val="0F172A"/>
                </a:solidFill>
                <a:latin typeface="Public Sans" pitchFamily="34" charset="0"/>
                <a:ea typeface="Public Sans" pitchFamily="34" charset="-122"/>
                <a:cs typeface="Public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021841"/>
            <a:ext cx="10566400" cy="4023359"/>
          </a:xfrm>
          <a:prstGeom prst="rect">
            <a:avLst/>
          </a:prstGeom>
          <a:noFill/>
          <a:ln/>
        </p:spPr>
        <p:txBody>
          <a:bodyPr wrap="square" lIns="0" tIns="0" rIns="0" bIns="0" rtlCol="0" anchor="t"/>
          <a:lstStyle>
            <a:lvl1pPr marL="0" indent="0" algn="l">
              <a:lnSpc>
                <a:spcPct val="140000"/>
              </a:lnSpc>
              <a:buNone/>
              <a:defRPr lang="en-US" sz="1600" dirty="0">
                <a:solidFill>
                  <a:srgbClr val="141413"/>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8A"/>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24429C"/>
              </a:gs>
              <a:gs pos="45000">
                <a:srgbClr val="1E3A8A"/>
              </a:gs>
              <a:gs pos="100000">
                <a:srgbClr val="142A66"/>
              </a:gs>
            </a:gsLst>
            <a:lin ang="2700000" scaled="0"/>
          </a:gradFill>
          <a:ln/>
        </p:spPr>
        <p:txBody>
          <a:bodyPr/>
          <a:lstStyle/>
          <a:p>
            <a:endParaRPr lang="en-001"/>
          </a:p>
        </p:txBody>
      </p:sp>
      <p:sp>
        <p:nvSpPr>
          <p:cNvPr id="3" name="Shape 1"/>
          <p:cNvSpPr/>
          <p:nvPr/>
        </p:nvSpPr>
        <p:spPr>
          <a:xfrm>
            <a:off x="7874000" y="0"/>
            <a:ext cx="4318000" cy="6858000"/>
          </a:xfrm>
          <a:prstGeom prst="rect">
            <a:avLst/>
          </a:prstGeom>
          <a:gradFill rotWithShape="1">
            <a:gsLst>
              <a:gs pos="0">
                <a:srgbClr val="0A163C">
                  <a:alpha val="35000"/>
                </a:srgbClr>
              </a:gs>
              <a:gs pos="100000">
                <a:srgbClr val="0A163C">
                  <a:alpha val="15000"/>
                </a:srgbClr>
              </a:gs>
            </a:gsLst>
            <a:lin ang="5400000" scaled="0"/>
          </a:gradFill>
          <a:ln/>
        </p:spPr>
        <p:txBody>
          <a:bodyPr/>
          <a:lstStyle/>
          <a:p>
            <a:endParaRPr lang="en-001"/>
          </a:p>
        </p:txBody>
      </p:sp>
      <p:sp>
        <p:nvSpPr>
          <p:cNvPr id="4" name="Shape 2"/>
          <p:cNvSpPr/>
          <p:nvPr/>
        </p:nvSpPr>
        <p:spPr>
          <a:xfrm>
            <a:off x="7874000" y="0"/>
            <a:ext cx="4318000" cy="3937000"/>
          </a:xfrm>
          <a:prstGeom prst="rect">
            <a:avLst/>
          </a:prstGeom>
          <a:gradFill rotWithShape="1">
            <a:gsLst>
              <a:gs pos="0">
                <a:srgbClr val="93BBF7">
                  <a:alpha val="22000"/>
                </a:srgbClr>
              </a:gs>
              <a:gs pos="65000">
                <a:srgbClr val="93BBF7">
                  <a:alpha val="0"/>
                </a:srgbClr>
              </a:gs>
            </a:gsLst>
            <a:path path="circle">
              <a:fillToRect l="60000" t="40000" r="40000" b="60000"/>
            </a:path>
          </a:gradFill>
          <a:ln/>
        </p:spPr>
        <p:txBody>
          <a:bodyPr/>
          <a:lstStyle/>
          <a:p>
            <a:endParaRPr lang="en-001"/>
          </a:p>
        </p:txBody>
      </p:sp>
      <p:sp>
        <p:nvSpPr>
          <p:cNvPr id="5" name="Shape 3"/>
          <p:cNvSpPr/>
          <p:nvPr/>
        </p:nvSpPr>
        <p:spPr>
          <a:xfrm>
            <a:off x="0" y="3937000"/>
            <a:ext cx="5715000" cy="2921000"/>
          </a:xfrm>
          <a:prstGeom prst="rect">
            <a:avLst/>
          </a:prstGeom>
          <a:gradFill rotWithShape="1">
            <a:gsLst>
              <a:gs pos="0">
                <a:srgbClr val="F59E0B">
                  <a:alpha val="20000"/>
                </a:srgbClr>
              </a:gs>
              <a:gs pos="40000">
                <a:srgbClr val="F59E0B">
                  <a:alpha val="7000"/>
                </a:srgbClr>
              </a:gs>
              <a:gs pos="70000">
                <a:srgbClr val="F59E0B">
                  <a:alpha val="0"/>
                </a:srgbClr>
              </a:gs>
            </a:gsLst>
            <a:path path="circle">
              <a:fillToRect t="100000" r="100000"/>
            </a:path>
          </a:gradFill>
          <a:ln/>
        </p:spPr>
        <p:txBody>
          <a:bodyPr/>
          <a:lstStyle/>
          <a:p>
            <a:endParaRPr lang="en-001"/>
          </a:p>
        </p:txBody>
      </p:sp>
      <p:pic>
        <p:nvPicPr>
          <p:cNvPr id="6" name="Image 0" descr="ellipse"/>
          <p:cNvPicPr>
            <a:picLocks noChangeAspect="1"/>
          </p:cNvPicPr>
          <p:nvPr/>
        </p:nvPicPr>
        <p:blipFill>
          <a:blip r:embed="rId3"/>
          <a:srcRect/>
          <a:stretch/>
        </p:blipFill>
        <p:spPr>
          <a:xfrm>
            <a:off x="8636000" y="1270000"/>
            <a:ext cx="2794000" cy="2794000"/>
          </a:xfrm>
          <a:prstGeom prst="rect">
            <a:avLst/>
          </a:prstGeom>
        </p:spPr>
      </p:pic>
      <p:pic>
        <p:nvPicPr>
          <p:cNvPr id="7" name="Image 1" descr="ellipse"/>
          <p:cNvPicPr>
            <a:picLocks noChangeAspect="1"/>
          </p:cNvPicPr>
          <p:nvPr/>
        </p:nvPicPr>
        <p:blipFill>
          <a:blip r:embed="rId4"/>
          <a:srcRect/>
          <a:stretch/>
        </p:blipFill>
        <p:spPr>
          <a:xfrm>
            <a:off x="8318500" y="952500"/>
            <a:ext cx="3429000" cy="3429000"/>
          </a:xfrm>
          <a:prstGeom prst="rect">
            <a:avLst/>
          </a:prstGeom>
        </p:spPr>
      </p:pic>
      <p:pic>
        <p:nvPicPr>
          <p:cNvPr id="8" name="Image 2" descr="ellipse"/>
          <p:cNvPicPr>
            <a:picLocks noChangeAspect="1"/>
          </p:cNvPicPr>
          <p:nvPr/>
        </p:nvPicPr>
        <p:blipFill>
          <a:blip r:embed="rId5"/>
          <a:srcRect/>
          <a:stretch/>
        </p:blipFill>
        <p:spPr>
          <a:xfrm>
            <a:off x="11240770" y="1439480"/>
            <a:ext cx="165100" cy="165100"/>
          </a:xfrm>
          <a:prstGeom prst="rect">
            <a:avLst/>
          </a:prstGeom>
        </p:spPr>
      </p:pic>
      <p:sp>
        <p:nvSpPr>
          <p:cNvPr id="10" name="Text 4"/>
          <p:cNvSpPr/>
          <p:nvPr/>
        </p:nvSpPr>
        <p:spPr>
          <a:xfrm>
            <a:off x="8201660" y="1905000"/>
            <a:ext cx="3662680" cy="1562100"/>
          </a:xfrm>
          <a:prstGeom prst="rect">
            <a:avLst/>
          </a:prstGeom>
          <a:noFill/>
          <a:ln/>
        </p:spPr>
        <p:txBody>
          <a:bodyPr wrap="square" lIns="0" tIns="0" rIns="0" bIns="0" rtlCol="0" anchor="t">
            <a:normAutofit/>
          </a:bodyPr>
          <a:lstStyle/>
          <a:p>
            <a:pPr marL="0" indent="0" algn="ctr">
              <a:lnSpc>
                <a:spcPts val="12100"/>
              </a:lnSpc>
              <a:buNone/>
            </a:pPr>
            <a:r>
              <a:rPr lang="en-US" sz="11000" b="1" dirty="0">
                <a:solidFill>
                  <a:srgbClr val="DBEAFE"/>
                </a:solidFill>
                <a:latin typeface="IBM Plex Sans Arabic" pitchFamily="34" charset="0"/>
                <a:ea typeface="IBM Plex Sans Arabic" pitchFamily="34" charset="-122"/>
                <a:cs typeface="IBM Plex Sans Arabic" pitchFamily="34" charset="-120"/>
              </a:rPr>
              <a:t>دليلك</a:t>
            </a:r>
            <a:endParaRPr lang="en-US" sz="11000" dirty="0"/>
          </a:p>
        </p:txBody>
      </p:sp>
      <p:sp>
        <p:nvSpPr>
          <p:cNvPr id="11" name="Text 5"/>
          <p:cNvSpPr/>
          <p:nvPr/>
        </p:nvSpPr>
        <p:spPr>
          <a:xfrm>
            <a:off x="8201660" y="3503295"/>
            <a:ext cx="3662680" cy="274320"/>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BFD3F7"/>
                </a:solidFill>
                <a:latin typeface="Public Sans" pitchFamily="34" charset="0"/>
                <a:ea typeface="Public Sans" pitchFamily="34" charset="-122"/>
                <a:cs typeface="Public Sans" pitchFamily="34" charset="-120"/>
              </a:rPr>
              <a:t>your guide</a:t>
            </a:r>
            <a:endParaRPr lang="en-US" sz="1400" dirty="0"/>
          </a:p>
        </p:txBody>
      </p:sp>
      <p:sp>
        <p:nvSpPr>
          <p:cNvPr id="12" name="Text 6"/>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59E0B"/>
                </a:solidFill>
                <a:latin typeface="Public Sans" pitchFamily="34" charset="0"/>
                <a:ea typeface="Public Sans" pitchFamily="34" charset="-122"/>
                <a:cs typeface="Public Sans" pitchFamily="34" charset="-120"/>
              </a:rPr>
              <a:t>AI QUEST 2026 · Smart Society &amp; Public Services</a:t>
            </a:r>
            <a:endParaRPr lang="en-US" sz="1400" dirty="0"/>
          </a:p>
        </p:txBody>
      </p:sp>
      <p:sp>
        <p:nvSpPr>
          <p:cNvPr id="13" name="Text 7"/>
          <p:cNvSpPr>
            <a:spLocks noGrp="1"/>
          </p:cNvSpPr>
          <p:nvPr>
            <p:ph type="title"/>
          </p:nvPr>
        </p:nvSpPr>
        <p:spPr>
          <a:xfrm>
            <a:off x="812800" y="2147570"/>
            <a:ext cx="6540500" cy="1041400"/>
          </a:xfrm>
          <a:prstGeom prst="rect">
            <a:avLst/>
          </a:prstGeom>
          <a:noFill/>
          <a:ln/>
        </p:spPr>
        <p:txBody>
          <a:bodyPr wrap="square" lIns="0" tIns="0" rIns="0" bIns="0" rtlCol="0" anchor="t">
            <a:normAutofit/>
          </a:bodyPr>
          <a:lstStyle/>
          <a:p>
            <a:pPr marL="0" indent="0" algn="l">
              <a:lnSpc>
                <a:spcPts val="8000"/>
              </a:lnSpc>
              <a:buNone/>
            </a:pPr>
            <a:r>
              <a:rPr lang="en-US" sz="8000" b="1" i="0" kern="0" spc="-100" dirty="0">
                <a:solidFill>
                  <a:srgbClr val="F8FAFC"/>
                </a:solidFill>
                <a:latin typeface="Public Sans" pitchFamily="34" charset="0"/>
                <a:ea typeface="Public Sans" pitchFamily="34" charset="-122"/>
                <a:cs typeface="Public Sans" pitchFamily="34" charset="-120"/>
              </a:rPr>
              <a:t>DALEELAK</a:t>
            </a:r>
            <a:endParaRPr lang="en-US" sz="8000" dirty="0"/>
          </a:p>
        </p:txBody>
      </p:sp>
      <p:sp>
        <p:nvSpPr>
          <p:cNvPr id="14" name="Text 8"/>
          <p:cNvSpPr/>
          <p:nvPr/>
        </p:nvSpPr>
        <p:spPr>
          <a:xfrm>
            <a:off x="812800" y="3417570"/>
            <a:ext cx="6540500" cy="1115060"/>
          </a:xfrm>
          <a:prstGeom prst="rect">
            <a:avLst/>
          </a:prstGeom>
          <a:noFill/>
          <a:ln/>
        </p:spPr>
        <p:txBody>
          <a:bodyPr wrap="square" lIns="0" tIns="0" rIns="0" bIns="0" rtlCol="0" anchor="t">
            <a:normAutofit fontScale="77500" lnSpcReduction="20000"/>
          </a:bodyPr>
          <a:lstStyle/>
          <a:p>
            <a:pPr marL="0" indent="0" algn="just">
              <a:lnSpc>
                <a:spcPts val="2860"/>
              </a:lnSpc>
              <a:buNone/>
            </a:pPr>
            <a:r>
              <a:rPr lang="en-US" sz="2200" dirty="0">
                <a:solidFill>
                  <a:srgbClr val="DBEAFE"/>
                </a:solidFill>
                <a:latin typeface="Public Sans" pitchFamily="34" charset="0"/>
                <a:ea typeface="Public Sans" pitchFamily="34" charset="-122"/>
                <a:cs typeface="Public Sans" pitchFamily="34" charset="-120"/>
              </a:rPr>
              <a:t>An AI guide that understands the situation of the citizen and turns all his needs into a series of mandatory procedures at government service centers formed as a clear plan: what to do, what to bring and where to go.</a:t>
            </a:r>
            <a:endParaRPr lang="en-US" sz="2200" dirty="0"/>
          </a:p>
        </p:txBody>
      </p:sp>
      <p:sp>
        <p:nvSpPr>
          <p:cNvPr id="15" name="Text 9"/>
          <p:cNvSpPr/>
          <p:nvPr/>
        </p:nvSpPr>
        <p:spPr>
          <a:xfrm>
            <a:off x="812800" y="5593080"/>
            <a:ext cx="10883392" cy="274320"/>
          </a:xfrm>
          <a:prstGeom prst="rect">
            <a:avLst/>
          </a:prstGeom>
          <a:noFill/>
          <a:ln/>
        </p:spPr>
        <p:txBody>
          <a:bodyPr wrap="square" lIns="0" tIns="0" rIns="0" bIns="0" rtlCol="0" anchor="t">
            <a:normAutofit/>
          </a:bodyPr>
          <a:lstStyle/>
          <a:p>
            <a:pPr>
              <a:lnSpc>
                <a:spcPts val="1960"/>
              </a:lnSpc>
            </a:pPr>
            <a:r>
              <a:rPr lang="en-US" sz="1400" dirty="0" err="1">
                <a:solidFill>
                  <a:srgbClr val="BFD3F7"/>
                </a:solidFill>
                <a:latin typeface="Public Sans" pitchFamily="34" charset="0"/>
                <a:ea typeface="Public Sans" pitchFamily="34" charset="-122"/>
                <a:cs typeface="Public Sans" pitchFamily="34" charset="-120"/>
              </a:rPr>
              <a:t>Microslop</a:t>
            </a:r>
            <a:r>
              <a:rPr lang="en-US" sz="1400" dirty="0">
                <a:solidFill>
                  <a:srgbClr val="BFD3F7"/>
                </a:solidFill>
                <a:latin typeface="Public Sans" pitchFamily="34" charset="0"/>
                <a:ea typeface="Public Sans" pitchFamily="34" charset="-122"/>
                <a:cs typeface="Public Sans" pitchFamily="34" charset="-120"/>
              </a:rPr>
              <a:t> · Ward Saleh · Ameen </a:t>
            </a:r>
            <a:r>
              <a:rPr lang="en-US" sz="1400" dirty="0" err="1">
                <a:solidFill>
                  <a:srgbClr val="BFD3F7"/>
                </a:solidFill>
                <a:latin typeface="Public Sans" pitchFamily="34" charset="0"/>
                <a:ea typeface="Public Sans" pitchFamily="34" charset="-122"/>
                <a:cs typeface="Public Sans" pitchFamily="34" charset="-120"/>
              </a:rPr>
              <a:t>Sonjuq</a:t>
            </a:r>
            <a:r>
              <a:rPr lang="en-US" sz="1400" dirty="0">
                <a:solidFill>
                  <a:srgbClr val="BFD3F7"/>
                </a:solidFill>
                <a:latin typeface="Public Sans" pitchFamily="34" charset="0"/>
                <a:ea typeface="Public Sans" pitchFamily="34" charset="-122"/>
                <a:cs typeface="Public Sans" pitchFamily="34" charset="-120"/>
              </a:rPr>
              <a:t> · Ahmad Odeh · Ali </a:t>
            </a:r>
            <a:r>
              <a:rPr lang="en-US" sz="1400" dirty="0" err="1">
                <a:solidFill>
                  <a:srgbClr val="BFD3F7"/>
                </a:solidFill>
                <a:latin typeface="Public Sans" pitchFamily="34" charset="0"/>
                <a:ea typeface="Public Sans" pitchFamily="34" charset="-122"/>
                <a:cs typeface="Public Sans" pitchFamily="34" charset="-120"/>
              </a:rPr>
              <a:t>Shqair</a:t>
            </a:r>
            <a:r>
              <a:rPr lang="en-US" sz="1400" dirty="0">
                <a:solidFill>
                  <a:srgbClr val="BFD3F7"/>
                </a:solidFill>
                <a:latin typeface="Public Sans" pitchFamily="34" charset="0"/>
                <a:ea typeface="Public Sans" pitchFamily="34" charset="-122"/>
                <a:cs typeface="Public Sans" pitchFamily="34" charset="-120"/>
              </a:rPr>
              <a:t> · Eyas </a:t>
            </a:r>
            <a:r>
              <a:rPr lang="en-US" sz="1400" dirty="0" err="1">
                <a:solidFill>
                  <a:srgbClr val="BFD3F7"/>
                </a:solidFill>
                <a:latin typeface="Public Sans" pitchFamily="34" charset="0"/>
                <a:ea typeface="Public Sans" pitchFamily="34" charset="-122"/>
                <a:cs typeface="Public Sans" pitchFamily="34" charset="-120"/>
              </a:rPr>
              <a:t>Dmour</a:t>
            </a:r>
            <a:r>
              <a:rPr lang="en-US" sz="1400" dirty="0">
                <a:solidFill>
                  <a:srgbClr val="BFD3F7"/>
                </a:solidFill>
                <a:latin typeface="Public Sans" pitchFamily="34" charset="0"/>
                <a:ea typeface="Public Sans" pitchFamily="34" charset="-122"/>
                <a:cs typeface="Public Sans" pitchFamily="34" charset="-120"/>
              </a:rPr>
              <a:t>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8FAFC"/>
              </a:gs>
              <a:gs pos="55000">
                <a:srgbClr val="F8FAFC"/>
              </a:gs>
              <a:gs pos="100000">
                <a:srgbClr val="E6EEFD"/>
              </a:gs>
            </a:gsLst>
            <a:lin ang="4200000" scaled="0"/>
          </a:gradFill>
          <a:ln/>
        </p:spPr>
        <p:txBody>
          <a:bodyPr/>
          <a:lstStyle/>
          <a:p>
            <a:endParaRPr lang="en-001"/>
          </a:p>
        </p:txBody>
      </p:sp>
      <p:sp>
        <p:nvSpPr>
          <p:cNvPr id="3" name="Shape 1"/>
          <p:cNvSpPr/>
          <p:nvPr/>
        </p:nvSpPr>
        <p:spPr>
          <a:xfrm>
            <a:off x="7112000" y="0"/>
            <a:ext cx="5080000" cy="3937000"/>
          </a:xfrm>
          <a:prstGeom prst="rect">
            <a:avLst/>
          </a:prstGeom>
          <a:gradFill rotWithShape="1">
            <a:gsLst>
              <a:gs pos="0">
                <a:srgbClr val="1E3A8A">
                  <a:alpha val="16000"/>
                </a:srgbClr>
              </a:gs>
              <a:gs pos="35000">
                <a:srgbClr val="93BBF7">
                  <a:alpha val="24000"/>
                </a:srgbClr>
              </a:gs>
              <a:gs pos="72000">
                <a:srgbClr val="93BBF7">
                  <a:alpha val="0"/>
                </a:srgbClr>
              </a:gs>
            </a:gsLst>
            <a:path path="circle">
              <a:fillToRect l="100000" b="100000"/>
            </a:path>
          </a:gradFill>
          <a:ln/>
        </p:spPr>
        <p:txBody>
          <a:bodyPr/>
          <a:lstStyle/>
          <a:p>
            <a:endParaRPr lang="en-001"/>
          </a:p>
        </p:txBody>
      </p:sp>
      <p:sp>
        <p:nvSpPr>
          <p:cNvPr id="4" name="Shape 2"/>
          <p:cNvSpPr/>
          <p:nvPr/>
        </p:nvSpPr>
        <p:spPr>
          <a:xfrm>
            <a:off x="0" y="4064000"/>
            <a:ext cx="4826000" cy="2794000"/>
          </a:xfrm>
          <a:prstGeom prst="rect">
            <a:avLst/>
          </a:prstGeom>
          <a:gradFill rotWithShape="1">
            <a:gsLst>
              <a:gs pos="0">
                <a:srgbClr val="F59E0B">
                  <a:alpha val="18000"/>
                </a:srgbClr>
              </a:gs>
              <a:gs pos="40000">
                <a:srgbClr val="F59E0B">
                  <a:alpha val="6000"/>
                </a:srgbClr>
              </a:gs>
              <a:gs pos="70000">
                <a:srgbClr val="F59E0B">
                  <a:alpha val="0"/>
                </a:srgbClr>
              </a:gs>
            </a:gsLst>
            <a:path path="circle">
              <a:fillToRect t="100000" r="100000"/>
            </a:path>
          </a:gradFill>
          <a:ln/>
        </p:spPr>
        <p:txBody>
          <a:bodyPr/>
          <a:lstStyle/>
          <a:p>
            <a:endParaRPr lang="en-001"/>
          </a:p>
        </p:txBody>
      </p:sp>
      <p:pic>
        <p:nvPicPr>
          <p:cNvPr id="5" name="Image 0" descr="ellipse"/>
          <p:cNvPicPr>
            <a:picLocks noChangeAspect="1"/>
          </p:cNvPicPr>
          <p:nvPr/>
        </p:nvPicPr>
        <p:blipFill>
          <a:blip r:embed="rId3"/>
          <a:srcRect/>
          <a:stretch/>
        </p:blipFill>
        <p:spPr>
          <a:xfrm>
            <a:off x="10160000" y="304800"/>
            <a:ext cx="1727200" cy="1727200"/>
          </a:xfrm>
          <a:prstGeom prst="rect">
            <a:avLst/>
          </a:prstGeom>
        </p:spPr>
      </p:pic>
      <p:pic>
        <p:nvPicPr>
          <p:cNvPr id="6" name="Image 1" descr="ellipse"/>
          <p:cNvPicPr>
            <a:picLocks noChangeAspect="1"/>
          </p:cNvPicPr>
          <p:nvPr/>
        </p:nvPicPr>
        <p:blipFill>
          <a:blip r:embed="rId4"/>
          <a:srcRect/>
          <a:stretch/>
        </p:blipFill>
        <p:spPr>
          <a:xfrm>
            <a:off x="10953750" y="1955800"/>
            <a:ext cx="139700" cy="139700"/>
          </a:xfrm>
          <a:prstGeom prst="rect">
            <a:avLst/>
          </a:prstGeom>
        </p:spPr>
      </p:pic>
      <p:sp>
        <p:nvSpPr>
          <p:cNvPr id="7" name="Text 3"/>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E3A8A"/>
                </a:solidFill>
                <a:latin typeface="Public Sans" pitchFamily="34" charset="0"/>
                <a:ea typeface="Public Sans" pitchFamily="34" charset="-122"/>
                <a:cs typeface="Public Sans" pitchFamily="34" charset="-120"/>
              </a:rPr>
              <a:t>THE PROBLEM</a:t>
            </a:r>
            <a:endParaRPr lang="en-US" sz="1400" dirty="0"/>
          </a:p>
        </p:txBody>
      </p:sp>
      <p:sp>
        <p:nvSpPr>
          <p:cNvPr id="8" name="Text 4"/>
          <p:cNvSpPr>
            <a:spLocks noGrp="1"/>
          </p:cNvSpPr>
          <p:nvPr>
            <p:ph type="title"/>
          </p:nvPr>
        </p:nvSpPr>
        <p:spPr>
          <a:xfrm>
            <a:off x="812800" y="1214120"/>
            <a:ext cx="9347200" cy="1031240"/>
          </a:xfrm>
          <a:prstGeom prst="rect">
            <a:avLst/>
          </a:prstGeom>
          <a:noFill/>
          <a:ln/>
        </p:spPr>
        <p:txBody>
          <a:bodyPr wrap="square" lIns="0" tIns="0" rIns="0" bIns="0" rtlCol="0" anchor="t">
            <a:normAutofit/>
          </a:bodyPr>
          <a:lstStyle/>
          <a:p>
            <a:pPr marL="0" indent="0" algn="l">
              <a:lnSpc>
                <a:spcPts val="3960"/>
              </a:lnSpc>
              <a:buNone/>
            </a:pPr>
            <a:r>
              <a:rPr lang="en-US" sz="3200" b="1" i="0" dirty="0">
                <a:solidFill>
                  <a:srgbClr val="0F172A"/>
                </a:solidFill>
                <a:latin typeface="Public Sans" pitchFamily="34" charset="0"/>
                <a:ea typeface="Public Sans" pitchFamily="34" charset="-122"/>
                <a:cs typeface="Public Sans" pitchFamily="34" charset="-120"/>
              </a:rPr>
              <a:t>People know what went wrong</a:t>
            </a:r>
            <a:br>
              <a:rPr lang="en-US" sz="3200" b="1" i="0" dirty="0">
                <a:solidFill>
                  <a:srgbClr val="0F172A"/>
                </a:solidFill>
                <a:latin typeface="Public Sans" pitchFamily="34" charset="0"/>
                <a:ea typeface="Public Sans" pitchFamily="34" charset="-122"/>
                <a:cs typeface="Public Sans" pitchFamily="34" charset="-120"/>
              </a:rPr>
            </a:br>
            <a:r>
              <a:rPr lang="en-US" sz="3200" b="1" i="0" dirty="0">
                <a:solidFill>
                  <a:srgbClr val="0F172A"/>
                </a:solidFill>
                <a:latin typeface="Public Sans" pitchFamily="34" charset="0"/>
                <a:ea typeface="Public Sans" pitchFamily="34" charset="-122"/>
                <a:cs typeface="Public Sans" pitchFamily="34" charset="-120"/>
              </a:rPr>
              <a:t>They rarely know which procedure fixes it</a:t>
            </a:r>
            <a:endParaRPr lang="en-US" sz="3200" dirty="0"/>
          </a:p>
        </p:txBody>
      </p:sp>
      <p:sp>
        <p:nvSpPr>
          <p:cNvPr id="9" name="Shape 5"/>
          <p:cNvSpPr/>
          <p:nvPr/>
        </p:nvSpPr>
        <p:spPr>
          <a:xfrm>
            <a:off x="815975" y="2629535"/>
            <a:ext cx="3380317" cy="3209290"/>
          </a:xfrm>
          <a:prstGeom prst="roundRect">
            <a:avLst>
              <a:gd name="adj" fmla="val 4650"/>
            </a:avLst>
          </a:prstGeom>
          <a:solidFill>
            <a:srgbClr val="FFFFFF"/>
          </a:solidFill>
          <a:ln w="6350">
            <a:solidFill>
              <a:srgbClr val="E2E8F0"/>
            </a:solidFill>
            <a:prstDash val="solid"/>
          </a:ln>
        </p:spPr>
        <p:txBody>
          <a:bodyPr/>
          <a:lstStyle/>
          <a:p>
            <a:endParaRPr lang="en-001"/>
          </a:p>
        </p:txBody>
      </p:sp>
      <p:pic>
        <p:nvPicPr>
          <p:cNvPr id="10" name="Image 2" descr="Book"/>
          <p:cNvPicPr>
            <a:picLocks noChangeAspect="1"/>
          </p:cNvPicPr>
          <p:nvPr/>
        </p:nvPicPr>
        <p:blipFill>
          <a:blip r:embed="rId5"/>
          <a:srcRect/>
          <a:stretch/>
        </p:blipFill>
        <p:spPr>
          <a:xfrm>
            <a:off x="1122680" y="2936240"/>
            <a:ext cx="355600" cy="355600"/>
          </a:xfrm>
          <a:prstGeom prst="rect">
            <a:avLst/>
          </a:prstGeom>
        </p:spPr>
      </p:pic>
      <p:sp>
        <p:nvSpPr>
          <p:cNvPr id="11" name="Text 6"/>
          <p:cNvSpPr/>
          <p:nvPr/>
        </p:nvSpPr>
        <p:spPr>
          <a:xfrm>
            <a:off x="1122680" y="3418840"/>
            <a:ext cx="284991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172A"/>
                </a:solidFill>
                <a:latin typeface="Public Sans" pitchFamily="34" charset="0"/>
                <a:ea typeface="Public Sans" pitchFamily="34" charset="-122"/>
                <a:cs typeface="Public Sans" pitchFamily="34" charset="-120"/>
              </a:rPr>
              <a:t>Formal language</a:t>
            </a:r>
            <a:endParaRPr lang="en-US" sz="2000" dirty="0"/>
          </a:p>
        </p:txBody>
      </p:sp>
      <p:sp>
        <p:nvSpPr>
          <p:cNvPr id="12" name="Text 7"/>
          <p:cNvSpPr/>
          <p:nvPr/>
        </p:nvSpPr>
        <p:spPr>
          <a:xfrm>
            <a:off x="1122680" y="3850640"/>
            <a:ext cx="2849914"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75569"/>
                </a:solidFill>
                <a:latin typeface="Public Sans" pitchFamily="34" charset="0"/>
                <a:ea typeface="Public Sans" pitchFamily="34" charset="-122"/>
                <a:cs typeface="Public Sans" pitchFamily="34" charset="-120"/>
              </a:rPr>
              <a:t>Service names and official terms don't match how people describe their situation in everyday Jordanian Arabic.</a:t>
            </a:r>
            <a:endParaRPr lang="en-US" sz="1500" dirty="0"/>
          </a:p>
        </p:txBody>
      </p:sp>
      <p:sp>
        <p:nvSpPr>
          <p:cNvPr id="13" name="Shape 8"/>
          <p:cNvSpPr/>
          <p:nvPr/>
        </p:nvSpPr>
        <p:spPr>
          <a:xfrm>
            <a:off x="4405842" y="2629535"/>
            <a:ext cx="3380317" cy="3209290"/>
          </a:xfrm>
          <a:prstGeom prst="roundRect">
            <a:avLst>
              <a:gd name="adj" fmla="val 4650"/>
            </a:avLst>
          </a:prstGeom>
          <a:solidFill>
            <a:srgbClr val="FFFFFF"/>
          </a:solidFill>
          <a:ln w="6350">
            <a:solidFill>
              <a:srgbClr val="E2E8F0"/>
            </a:solidFill>
            <a:prstDash val="solid"/>
          </a:ln>
        </p:spPr>
        <p:txBody>
          <a:bodyPr/>
          <a:lstStyle/>
          <a:p>
            <a:endParaRPr lang="en-001"/>
          </a:p>
        </p:txBody>
      </p:sp>
      <p:pic>
        <p:nvPicPr>
          <p:cNvPr id="14" name="Image 3" descr="Search"/>
          <p:cNvPicPr>
            <a:picLocks noChangeAspect="1"/>
          </p:cNvPicPr>
          <p:nvPr/>
        </p:nvPicPr>
        <p:blipFill>
          <a:blip r:embed="rId6"/>
          <a:srcRect/>
          <a:stretch/>
        </p:blipFill>
        <p:spPr>
          <a:xfrm>
            <a:off x="4712546" y="2936240"/>
            <a:ext cx="355600" cy="355600"/>
          </a:xfrm>
          <a:prstGeom prst="rect">
            <a:avLst/>
          </a:prstGeom>
        </p:spPr>
      </p:pic>
      <p:sp>
        <p:nvSpPr>
          <p:cNvPr id="15" name="Text 9"/>
          <p:cNvSpPr/>
          <p:nvPr/>
        </p:nvSpPr>
        <p:spPr>
          <a:xfrm>
            <a:off x="4712546" y="3418840"/>
            <a:ext cx="284991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172A"/>
                </a:solidFill>
                <a:latin typeface="Public Sans" pitchFamily="34" charset="0"/>
                <a:ea typeface="Public Sans" pitchFamily="34" charset="-122"/>
                <a:cs typeface="Public Sans" pitchFamily="34" charset="-120"/>
              </a:rPr>
              <a:t>Hidden requirements</a:t>
            </a:r>
            <a:endParaRPr lang="en-US" sz="2000" dirty="0"/>
          </a:p>
        </p:txBody>
      </p:sp>
      <p:sp>
        <p:nvSpPr>
          <p:cNvPr id="16" name="Text 10"/>
          <p:cNvSpPr/>
          <p:nvPr/>
        </p:nvSpPr>
        <p:spPr>
          <a:xfrm>
            <a:off x="4712546" y="3850640"/>
            <a:ext cx="2849914" cy="14065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75569"/>
                </a:solidFill>
                <a:latin typeface="Public Sans" pitchFamily="34" charset="0"/>
                <a:ea typeface="Public Sans" pitchFamily="34" charset="-122"/>
                <a:cs typeface="Public Sans" pitchFamily="34" charset="-120"/>
              </a:rPr>
              <a:t>Which documents, originals or copies, which fees and commitments: details are spread across guides and service cards.</a:t>
            </a:r>
            <a:endParaRPr lang="en-US" sz="1500" dirty="0"/>
          </a:p>
        </p:txBody>
      </p:sp>
      <p:sp>
        <p:nvSpPr>
          <p:cNvPr id="17" name="Shape 11"/>
          <p:cNvSpPr/>
          <p:nvPr/>
        </p:nvSpPr>
        <p:spPr>
          <a:xfrm>
            <a:off x="7995708" y="2629535"/>
            <a:ext cx="3380317" cy="3209290"/>
          </a:xfrm>
          <a:prstGeom prst="roundRect">
            <a:avLst>
              <a:gd name="adj" fmla="val 4650"/>
            </a:avLst>
          </a:prstGeom>
          <a:solidFill>
            <a:srgbClr val="FFFFFF"/>
          </a:solidFill>
          <a:ln w="6350">
            <a:solidFill>
              <a:srgbClr val="E2E8F0"/>
            </a:solidFill>
            <a:prstDash val="solid"/>
          </a:ln>
        </p:spPr>
        <p:txBody>
          <a:bodyPr/>
          <a:lstStyle/>
          <a:p>
            <a:endParaRPr lang="en-001"/>
          </a:p>
        </p:txBody>
      </p:sp>
      <p:pic>
        <p:nvPicPr>
          <p:cNvPr id="18" name="Image 4" descr="Globe"/>
          <p:cNvPicPr>
            <a:picLocks noChangeAspect="1"/>
          </p:cNvPicPr>
          <p:nvPr/>
        </p:nvPicPr>
        <p:blipFill>
          <a:blip r:embed="rId7"/>
          <a:srcRect/>
          <a:stretch/>
        </p:blipFill>
        <p:spPr>
          <a:xfrm>
            <a:off x="8302413" y="2936240"/>
            <a:ext cx="355600" cy="355600"/>
          </a:xfrm>
          <a:prstGeom prst="rect">
            <a:avLst/>
          </a:prstGeom>
        </p:spPr>
      </p:pic>
      <p:sp>
        <p:nvSpPr>
          <p:cNvPr id="19" name="Text 12"/>
          <p:cNvSpPr/>
          <p:nvPr/>
        </p:nvSpPr>
        <p:spPr>
          <a:xfrm>
            <a:off x="8302413" y="3418840"/>
            <a:ext cx="284991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172A"/>
                </a:solidFill>
                <a:latin typeface="Public Sans" pitchFamily="34" charset="0"/>
                <a:ea typeface="Public Sans" pitchFamily="34" charset="-122"/>
                <a:cs typeface="Public Sans" pitchFamily="34" charset="-120"/>
              </a:rPr>
              <a:t>Steps and places</a:t>
            </a:r>
            <a:endParaRPr lang="en-US" sz="2000" dirty="0"/>
          </a:p>
        </p:txBody>
      </p:sp>
      <p:sp>
        <p:nvSpPr>
          <p:cNvPr id="20" name="Text 13"/>
          <p:cNvSpPr/>
          <p:nvPr/>
        </p:nvSpPr>
        <p:spPr>
          <a:xfrm>
            <a:off x="8302413" y="3850640"/>
            <a:ext cx="2849914"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75569"/>
                </a:solidFill>
                <a:latin typeface="Public Sans" pitchFamily="34" charset="0"/>
                <a:ea typeface="Public Sans" pitchFamily="34" charset="-122"/>
                <a:cs typeface="Public Sans" pitchFamily="34" charset="-120"/>
              </a:rPr>
              <a:t>Prerequisites come first and may need a different office. Getting the order wrong means another trip.</a:t>
            </a:r>
            <a:endParaRPr lang="en-US" sz="1500" dirty="0"/>
          </a:p>
        </p:txBody>
      </p:sp>
      <p:sp>
        <p:nvSpPr>
          <p:cNvPr id="21" name="Text 14"/>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4748B"/>
                </a:solidFill>
                <a:latin typeface="Public Sans" pitchFamily="34" charset="0"/>
                <a:ea typeface="Public Sans" pitchFamily="34" charset="-122"/>
                <a:cs typeface="Public Sans" pitchFamily="34" charset="-120"/>
              </a:rPr>
              <a:t>DALEELAK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BEAFE"/>
        </a:solidFill>
        <a:effectLst/>
      </p:bgPr>
    </p:bg>
    <p:spTree>
      <p:nvGrpSpPr>
        <p:cNvPr id="1" name=""/>
        <p:cNvGrpSpPr/>
        <p:nvPr/>
      </p:nvGrpSpPr>
      <p:grpSpPr>
        <a:xfrm>
          <a:off x="0" y="0"/>
          <a:ext cx="0" cy="0"/>
          <a:chOff x="0" y="0"/>
          <a:chExt cx="0" cy="0"/>
        </a:xfrm>
      </p:grpSpPr>
      <p:sp>
        <p:nvSpPr>
          <p:cNvPr id="2" name="Shape 0"/>
          <p:cNvSpPr/>
          <p:nvPr/>
        </p:nvSpPr>
        <p:spPr>
          <a:xfrm>
            <a:off x="0" y="27993"/>
            <a:ext cx="12192000" cy="6858000"/>
          </a:xfrm>
          <a:prstGeom prst="rect">
            <a:avLst/>
          </a:prstGeom>
          <a:gradFill rotWithShape="1">
            <a:gsLst>
              <a:gs pos="0">
                <a:srgbClr val="E8F0FE"/>
              </a:gs>
              <a:gs pos="50000">
                <a:srgbClr val="DBEAFE"/>
              </a:gs>
              <a:gs pos="100000">
                <a:srgbClr val="C9DBFA"/>
              </a:gs>
            </a:gsLst>
            <a:lin ang="4200000" scaled="0"/>
          </a:gradFill>
          <a:ln/>
        </p:spPr>
        <p:txBody>
          <a:bodyPr/>
          <a:lstStyle/>
          <a:p>
            <a:endParaRPr lang="en-001"/>
          </a:p>
        </p:txBody>
      </p:sp>
      <p:sp>
        <p:nvSpPr>
          <p:cNvPr id="3" name="Shape 1"/>
          <p:cNvSpPr/>
          <p:nvPr/>
        </p:nvSpPr>
        <p:spPr>
          <a:xfrm>
            <a:off x="7112000" y="0"/>
            <a:ext cx="5080000" cy="3937000"/>
          </a:xfrm>
          <a:prstGeom prst="rect">
            <a:avLst/>
          </a:prstGeom>
          <a:gradFill rotWithShape="1">
            <a:gsLst>
              <a:gs pos="0">
                <a:srgbClr val="1E3A8A">
                  <a:alpha val="20000"/>
                </a:srgbClr>
              </a:gs>
              <a:gs pos="40000">
                <a:srgbClr val="1E3A8A">
                  <a:alpha val="7000"/>
                </a:srgbClr>
              </a:gs>
              <a:gs pos="72000">
                <a:srgbClr val="1E3A8A">
                  <a:alpha val="0"/>
                </a:srgbClr>
              </a:gs>
            </a:gsLst>
            <a:path path="circle">
              <a:fillToRect l="100000" b="100000"/>
            </a:path>
          </a:gradFill>
          <a:ln/>
        </p:spPr>
        <p:txBody>
          <a:bodyPr/>
          <a:lstStyle/>
          <a:p>
            <a:endParaRPr lang="en-001"/>
          </a:p>
        </p:txBody>
      </p:sp>
      <p:sp>
        <p:nvSpPr>
          <p:cNvPr id="4" name="Shape 2"/>
          <p:cNvSpPr/>
          <p:nvPr/>
        </p:nvSpPr>
        <p:spPr>
          <a:xfrm>
            <a:off x="0" y="4064000"/>
            <a:ext cx="4826000" cy="2794000"/>
          </a:xfrm>
          <a:prstGeom prst="rect">
            <a:avLst/>
          </a:prstGeom>
          <a:gradFill rotWithShape="1">
            <a:gsLst>
              <a:gs pos="0">
                <a:srgbClr val="F59E0B">
                  <a:alpha val="20000"/>
                </a:srgbClr>
              </a:gs>
              <a:gs pos="40000">
                <a:srgbClr val="F59E0B">
                  <a:alpha val="7000"/>
                </a:srgbClr>
              </a:gs>
              <a:gs pos="70000">
                <a:srgbClr val="F59E0B">
                  <a:alpha val="0"/>
                </a:srgbClr>
              </a:gs>
            </a:gsLst>
            <a:path path="circle">
              <a:fillToRect t="100000" r="100000"/>
            </a:path>
          </a:gradFill>
          <a:ln/>
        </p:spPr>
        <p:txBody>
          <a:bodyPr/>
          <a:lstStyle/>
          <a:p>
            <a:endParaRPr lang="en-001"/>
          </a:p>
        </p:txBody>
      </p:sp>
      <p:pic>
        <p:nvPicPr>
          <p:cNvPr id="5" name="Image 0" descr="ellipse"/>
          <p:cNvPicPr>
            <a:picLocks noChangeAspect="1"/>
          </p:cNvPicPr>
          <p:nvPr/>
        </p:nvPicPr>
        <p:blipFill>
          <a:blip r:embed="rId3"/>
          <a:srcRect/>
          <a:stretch/>
        </p:blipFill>
        <p:spPr>
          <a:xfrm>
            <a:off x="10160000" y="304800"/>
            <a:ext cx="1727200" cy="1727200"/>
          </a:xfrm>
          <a:prstGeom prst="rect">
            <a:avLst/>
          </a:prstGeom>
        </p:spPr>
      </p:pic>
      <p:pic>
        <p:nvPicPr>
          <p:cNvPr id="6" name="Image 1" descr="ellipse"/>
          <p:cNvPicPr>
            <a:picLocks noChangeAspect="1"/>
          </p:cNvPicPr>
          <p:nvPr/>
        </p:nvPicPr>
        <p:blipFill>
          <a:blip r:embed="rId4"/>
          <a:srcRect/>
          <a:stretch/>
        </p:blipFill>
        <p:spPr>
          <a:xfrm>
            <a:off x="10090150" y="1098550"/>
            <a:ext cx="139700" cy="139700"/>
          </a:xfrm>
          <a:prstGeom prst="rect">
            <a:avLst/>
          </a:prstGeom>
        </p:spPr>
      </p:pic>
      <p:sp>
        <p:nvSpPr>
          <p:cNvPr id="7" name="Text 3"/>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E3A8A"/>
                </a:solidFill>
                <a:latin typeface="Public Sans" pitchFamily="34" charset="0"/>
                <a:ea typeface="Public Sans" pitchFamily="34" charset="-122"/>
                <a:cs typeface="Public Sans" pitchFamily="34" charset="-120"/>
              </a:rPr>
              <a:t>THE SOLUTION</a:t>
            </a:r>
            <a:endParaRPr lang="en-US" sz="1400" dirty="0"/>
          </a:p>
        </p:txBody>
      </p:sp>
      <p:sp>
        <p:nvSpPr>
          <p:cNvPr id="8" name="Text 4"/>
          <p:cNvSpPr>
            <a:spLocks noGrp="1"/>
          </p:cNvSpPr>
          <p:nvPr>
            <p:ph type="title"/>
          </p:nvPr>
        </p:nvSpPr>
        <p:spPr>
          <a:xfrm>
            <a:off x="812800" y="1214120"/>
            <a:ext cx="9810750" cy="1031240"/>
          </a:xfrm>
          <a:prstGeom prst="rect">
            <a:avLst/>
          </a:prstGeom>
          <a:noFill/>
          <a:ln/>
        </p:spPr>
        <p:txBody>
          <a:bodyPr wrap="square" lIns="0" tIns="0" rIns="0" bIns="0" rtlCol="0" anchor="t">
            <a:normAutofit/>
          </a:bodyPr>
          <a:lstStyle/>
          <a:p>
            <a:pPr marL="0" indent="0" algn="l">
              <a:lnSpc>
                <a:spcPts val="3960"/>
              </a:lnSpc>
              <a:buNone/>
            </a:pPr>
            <a:r>
              <a:rPr lang="en-US" sz="3200" b="1" i="0" dirty="0">
                <a:solidFill>
                  <a:srgbClr val="0F172A"/>
                </a:solidFill>
                <a:latin typeface="Public Sans" pitchFamily="34" charset="0"/>
                <a:ea typeface="Public Sans" pitchFamily="34" charset="-122"/>
                <a:cs typeface="Public Sans" pitchFamily="34" charset="-120"/>
              </a:rPr>
              <a:t>Say it in your own words</a:t>
            </a:r>
            <a:br>
              <a:rPr lang="en-US" sz="3200" b="1" i="0" dirty="0">
                <a:solidFill>
                  <a:srgbClr val="0F172A"/>
                </a:solidFill>
                <a:latin typeface="Public Sans" pitchFamily="34" charset="0"/>
                <a:ea typeface="Public Sans" pitchFamily="34" charset="-122"/>
                <a:cs typeface="Public Sans" pitchFamily="34" charset="-120"/>
              </a:rPr>
            </a:br>
            <a:r>
              <a:rPr lang="en-US" sz="3200" b="1" i="0" dirty="0">
                <a:solidFill>
                  <a:srgbClr val="0F172A"/>
                </a:solidFill>
                <a:latin typeface="Public Sans" pitchFamily="34" charset="0"/>
                <a:ea typeface="Public Sans" pitchFamily="34" charset="-122"/>
                <a:cs typeface="Public Sans" pitchFamily="34" charset="-120"/>
              </a:rPr>
              <a:t>Get a plan you can follow</a:t>
            </a:r>
            <a:endParaRPr lang="en-US" sz="3200" dirty="0"/>
          </a:p>
        </p:txBody>
      </p:sp>
      <p:sp>
        <p:nvSpPr>
          <p:cNvPr id="9" name="Text 5"/>
          <p:cNvSpPr/>
          <p:nvPr/>
        </p:nvSpPr>
        <p:spPr>
          <a:xfrm>
            <a:off x="812800" y="3365500"/>
            <a:ext cx="442137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E3A8A"/>
                </a:solidFill>
                <a:latin typeface="Public Sans" pitchFamily="34" charset="0"/>
                <a:ea typeface="Public Sans" pitchFamily="34" charset="-122"/>
                <a:cs typeface="Public Sans" pitchFamily="34" charset="-120"/>
              </a:rPr>
              <a:t>The citizen says</a:t>
            </a:r>
            <a:endParaRPr lang="en-US" sz="1400" dirty="0"/>
          </a:p>
        </p:txBody>
      </p:sp>
      <p:sp>
        <p:nvSpPr>
          <p:cNvPr id="10" name="Text 6"/>
          <p:cNvSpPr/>
          <p:nvPr/>
        </p:nvSpPr>
        <p:spPr>
          <a:xfrm>
            <a:off x="812800" y="3766820"/>
            <a:ext cx="4292600" cy="934720"/>
          </a:xfrm>
          <a:prstGeom prst="roundRect">
            <a:avLst>
              <a:gd name="adj" fmla="val 21739"/>
            </a:avLst>
          </a:prstGeom>
          <a:solidFill>
            <a:srgbClr val="FFFFFF"/>
          </a:solidFill>
          <a:ln/>
        </p:spPr>
        <p:txBody>
          <a:bodyPr wrap="square" lIns="134795" tIns="194485" rIns="245285" bIns="169085" rtlCol="0" anchor="t">
            <a:normAutofit/>
          </a:bodyPr>
          <a:lstStyle/>
          <a:p>
            <a:pPr marL="0" indent="0" algn="r">
              <a:lnSpc>
                <a:spcPts val="3360"/>
              </a:lnSpc>
              <a:buNone/>
            </a:pPr>
            <a:r>
              <a:rPr lang="en-US" sz="2400" b="1" dirty="0">
                <a:solidFill>
                  <a:srgbClr val="0F172A"/>
                </a:solidFill>
                <a:latin typeface="IBM Plex Sans Arabic" pitchFamily="34" charset="0"/>
                <a:ea typeface="IBM Plex Sans Arabic" pitchFamily="34" charset="-122"/>
                <a:cs typeface="IBM Plex Sans Arabic" pitchFamily="34" charset="-120"/>
              </a:rPr>
              <a:t>ضاع دفتر العيلة، شو أعمل؟</a:t>
            </a:r>
            <a:endParaRPr lang="en-US" sz="2400" dirty="0"/>
          </a:p>
        </p:txBody>
      </p:sp>
      <p:sp>
        <p:nvSpPr>
          <p:cNvPr id="11" name="Text 7"/>
          <p:cNvSpPr/>
          <p:nvPr/>
        </p:nvSpPr>
        <p:spPr>
          <a:xfrm>
            <a:off x="812800" y="4853939"/>
            <a:ext cx="442137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34155"/>
                </a:solidFill>
                <a:latin typeface="Public Sans" pitchFamily="34" charset="0"/>
                <a:ea typeface="Public Sans" pitchFamily="34" charset="-122"/>
                <a:cs typeface="Public Sans" pitchFamily="34" charset="-120"/>
              </a:rPr>
              <a:t>"I lost the family book, what do I do?"</a:t>
            </a:r>
            <a:endParaRPr lang="en-US" sz="1400" dirty="0"/>
          </a:p>
        </p:txBody>
      </p:sp>
      <p:pic>
        <p:nvPicPr>
          <p:cNvPr id="12" name="Image 2" descr="arrow-right"/>
          <p:cNvPicPr>
            <a:picLocks noChangeAspect="1"/>
          </p:cNvPicPr>
          <p:nvPr/>
        </p:nvPicPr>
        <p:blipFill>
          <a:blip r:embed="rId5"/>
          <a:srcRect/>
          <a:stretch/>
        </p:blipFill>
        <p:spPr>
          <a:xfrm>
            <a:off x="5410200" y="4043680"/>
            <a:ext cx="762000" cy="381000"/>
          </a:xfrm>
          <a:prstGeom prst="rect">
            <a:avLst/>
          </a:prstGeom>
        </p:spPr>
      </p:pic>
      <p:sp>
        <p:nvSpPr>
          <p:cNvPr id="13" name="Shape 8"/>
          <p:cNvSpPr/>
          <p:nvPr/>
        </p:nvSpPr>
        <p:spPr>
          <a:xfrm>
            <a:off x="6477000" y="2973070"/>
            <a:ext cx="4902200" cy="2522220"/>
          </a:xfrm>
          <a:prstGeom prst="roundRect">
            <a:avLst>
              <a:gd name="adj" fmla="val 8056"/>
            </a:avLst>
          </a:prstGeom>
          <a:solidFill>
            <a:srgbClr val="FFFFFF"/>
          </a:solidFill>
          <a:ln/>
        </p:spPr>
        <p:txBody>
          <a:bodyPr/>
          <a:lstStyle/>
          <a:p>
            <a:endParaRPr lang="en-001"/>
          </a:p>
        </p:txBody>
      </p:sp>
      <p:sp>
        <p:nvSpPr>
          <p:cNvPr id="14" name="Text 9"/>
          <p:cNvSpPr/>
          <p:nvPr/>
        </p:nvSpPr>
        <p:spPr>
          <a:xfrm>
            <a:off x="6781800" y="3277870"/>
            <a:ext cx="442137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E3A8A"/>
                </a:solidFill>
                <a:latin typeface="Public Sans" pitchFamily="34" charset="0"/>
                <a:ea typeface="Public Sans" pitchFamily="34" charset="-122"/>
                <a:cs typeface="Public Sans" pitchFamily="34" charset="-120"/>
              </a:rPr>
              <a:t>DALEELAK returns</a:t>
            </a:r>
            <a:endParaRPr lang="en-US" sz="1400" dirty="0"/>
          </a:p>
        </p:txBody>
      </p:sp>
      <p:sp>
        <p:nvSpPr>
          <p:cNvPr id="15" name="Text 10"/>
          <p:cNvSpPr/>
          <p:nvPr/>
        </p:nvSpPr>
        <p:spPr>
          <a:xfrm>
            <a:off x="6852158" y="3653789"/>
            <a:ext cx="4343400" cy="1562100"/>
          </a:xfrm>
          <a:prstGeom prst="rect">
            <a:avLst/>
          </a:prstGeom>
          <a:noFill/>
          <a:ln/>
        </p:spPr>
        <p:txBody>
          <a:bodyPr wrap="square" lIns="0" tIns="0" rIns="0" bIns="0" rtlCol="0" anchor="t">
            <a:normAutofit/>
          </a:bodyPr>
          <a:lstStyle/>
          <a:p>
            <a:pPr marL="183642" indent="-183642" algn="l">
              <a:lnSpc>
                <a:spcPts val="2400"/>
              </a:lnSpc>
              <a:buSzPct val="100000"/>
              <a:buChar char="•"/>
            </a:pPr>
            <a:r>
              <a:rPr lang="en-US" sz="1600" dirty="0">
                <a:solidFill>
                  <a:srgbClr val="0F172A"/>
                </a:solidFill>
                <a:latin typeface="Public Sans" pitchFamily="34" charset="0"/>
                <a:ea typeface="Public Sans" pitchFamily="34" charset="-122"/>
                <a:cs typeface="Public Sans" pitchFamily="34" charset="-120"/>
              </a:rPr>
              <a:t>A few questions that change the route</a:t>
            </a:r>
            <a:endParaRPr lang="en-US" sz="1600" dirty="0"/>
          </a:p>
          <a:p>
            <a:pPr marL="183642" indent="-183642" algn="l">
              <a:lnSpc>
                <a:spcPts val="2400"/>
              </a:lnSpc>
              <a:buSzPct val="100000"/>
              <a:buChar char="•"/>
            </a:pPr>
            <a:r>
              <a:rPr lang="en-US" sz="1600" dirty="0">
                <a:solidFill>
                  <a:srgbClr val="0F172A"/>
                </a:solidFill>
                <a:latin typeface="Public Sans" pitchFamily="34" charset="0"/>
                <a:ea typeface="Public Sans" pitchFamily="34" charset="-122"/>
                <a:cs typeface="Public Sans" pitchFamily="34" charset="-120"/>
              </a:rPr>
              <a:t>Ordered steps</a:t>
            </a:r>
            <a:endParaRPr lang="en-US" sz="1600" dirty="0"/>
          </a:p>
          <a:p>
            <a:pPr marL="183642" indent="-183642" algn="l">
              <a:lnSpc>
                <a:spcPts val="2400"/>
              </a:lnSpc>
              <a:buSzPct val="100000"/>
              <a:buChar char="•"/>
            </a:pPr>
            <a:r>
              <a:rPr lang="en-US" sz="1600" dirty="0">
                <a:solidFill>
                  <a:srgbClr val="0F172A"/>
                </a:solidFill>
                <a:latin typeface="Public Sans" pitchFamily="34" charset="0"/>
                <a:ea typeface="Public Sans" pitchFamily="34" charset="-122"/>
                <a:cs typeface="Public Sans" pitchFamily="34" charset="-120"/>
              </a:rPr>
              <a:t>Checklists for all steps</a:t>
            </a:r>
            <a:endParaRPr lang="en-US" sz="1600" dirty="0"/>
          </a:p>
          <a:p>
            <a:pPr marL="183642" indent="-183642" algn="l">
              <a:lnSpc>
                <a:spcPts val="2400"/>
              </a:lnSpc>
              <a:buSzPct val="100000"/>
              <a:buChar char="•"/>
            </a:pPr>
            <a:r>
              <a:rPr lang="en-US" sz="1600" dirty="0">
                <a:solidFill>
                  <a:srgbClr val="0F172A"/>
                </a:solidFill>
                <a:latin typeface="Public Sans" pitchFamily="34" charset="0"/>
                <a:ea typeface="Public Sans" pitchFamily="34" charset="-122"/>
                <a:cs typeface="Public Sans" pitchFamily="34" charset="-120"/>
              </a:rPr>
              <a:t>Progress saved on the phone</a:t>
            </a:r>
            <a:endParaRPr lang="en-US" sz="1600" dirty="0"/>
          </a:p>
        </p:txBody>
      </p:sp>
      <p:sp>
        <p:nvSpPr>
          <p:cNvPr id="16" name="Text 11"/>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34155"/>
                </a:solidFill>
                <a:latin typeface="Public Sans" pitchFamily="34" charset="0"/>
                <a:ea typeface="Public Sans" pitchFamily="34" charset="-122"/>
                <a:cs typeface="Public Sans" pitchFamily="34" charset="-120"/>
              </a:rPr>
              <a:t>DALEELAK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8FAFC"/>
              </a:gs>
              <a:gs pos="55000">
                <a:srgbClr val="F8FAFC"/>
              </a:gs>
              <a:gs pos="100000">
                <a:srgbClr val="E6EEFD"/>
              </a:gs>
            </a:gsLst>
            <a:lin ang="4200000" scaled="0"/>
          </a:gradFill>
          <a:ln/>
        </p:spPr>
        <p:txBody>
          <a:bodyPr/>
          <a:lstStyle/>
          <a:p>
            <a:endParaRPr lang="en-001"/>
          </a:p>
        </p:txBody>
      </p:sp>
      <p:sp>
        <p:nvSpPr>
          <p:cNvPr id="3" name="Shape 1"/>
          <p:cNvSpPr/>
          <p:nvPr/>
        </p:nvSpPr>
        <p:spPr>
          <a:xfrm>
            <a:off x="7112000" y="0"/>
            <a:ext cx="5080000" cy="3937000"/>
          </a:xfrm>
          <a:prstGeom prst="rect">
            <a:avLst/>
          </a:prstGeom>
          <a:gradFill rotWithShape="1">
            <a:gsLst>
              <a:gs pos="0">
                <a:srgbClr val="1E3A8A">
                  <a:alpha val="16000"/>
                </a:srgbClr>
              </a:gs>
              <a:gs pos="35000">
                <a:srgbClr val="93BBF7">
                  <a:alpha val="24000"/>
                </a:srgbClr>
              </a:gs>
              <a:gs pos="72000">
                <a:srgbClr val="93BBF7">
                  <a:alpha val="0"/>
                </a:srgbClr>
              </a:gs>
            </a:gsLst>
            <a:path path="circle">
              <a:fillToRect l="100000" b="100000"/>
            </a:path>
          </a:gradFill>
          <a:ln/>
        </p:spPr>
        <p:txBody>
          <a:bodyPr/>
          <a:lstStyle/>
          <a:p>
            <a:endParaRPr lang="en-001"/>
          </a:p>
        </p:txBody>
      </p:sp>
      <p:sp>
        <p:nvSpPr>
          <p:cNvPr id="4" name="Shape 2"/>
          <p:cNvSpPr/>
          <p:nvPr/>
        </p:nvSpPr>
        <p:spPr>
          <a:xfrm>
            <a:off x="0" y="4064000"/>
            <a:ext cx="4826000" cy="2794000"/>
          </a:xfrm>
          <a:prstGeom prst="rect">
            <a:avLst/>
          </a:prstGeom>
          <a:gradFill rotWithShape="1">
            <a:gsLst>
              <a:gs pos="0">
                <a:srgbClr val="F59E0B">
                  <a:alpha val="18000"/>
                </a:srgbClr>
              </a:gs>
              <a:gs pos="40000">
                <a:srgbClr val="F59E0B">
                  <a:alpha val="6000"/>
                </a:srgbClr>
              </a:gs>
              <a:gs pos="70000">
                <a:srgbClr val="F59E0B">
                  <a:alpha val="0"/>
                </a:srgbClr>
              </a:gs>
            </a:gsLst>
            <a:path path="circle">
              <a:fillToRect t="100000" r="100000"/>
            </a:path>
          </a:gradFill>
          <a:ln/>
        </p:spPr>
        <p:txBody>
          <a:bodyPr/>
          <a:lstStyle/>
          <a:p>
            <a:endParaRPr lang="en-001"/>
          </a:p>
        </p:txBody>
      </p:sp>
      <p:pic>
        <p:nvPicPr>
          <p:cNvPr id="5" name="Image 0" descr="ellipse"/>
          <p:cNvPicPr>
            <a:picLocks noChangeAspect="1"/>
          </p:cNvPicPr>
          <p:nvPr/>
        </p:nvPicPr>
        <p:blipFill>
          <a:blip r:embed="rId3"/>
          <a:srcRect/>
          <a:stretch/>
        </p:blipFill>
        <p:spPr>
          <a:xfrm>
            <a:off x="10160000" y="304800"/>
            <a:ext cx="1727200" cy="1727200"/>
          </a:xfrm>
          <a:prstGeom prst="rect">
            <a:avLst/>
          </a:prstGeom>
        </p:spPr>
      </p:pic>
      <p:pic>
        <p:nvPicPr>
          <p:cNvPr id="6" name="Image 1" descr="ellipse"/>
          <p:cNvPicPr>
            <a:picLocks noChangeAspect="1"/>
          </p:cNvPicPr>
          <p:nvPr/>
        </p:nvPicPr>
        <p:blipFill>
          <a:blip r:embed="rId4"/>
          <a:srcRect/>
          <a:stretch/>
        </p:blipFill>
        <p:spPr>
          <a:xfrm>
            <a:off x="10947918" y="244825"/>
            <a:ext cx="139700" cy="139700"/>
          </a:xfrm>
          <a:prstGeom prst="rect">
            <a:avLst/>
          </a:prstGeom>
        </p:spPr>
      </p:pic>
      <p:sp>
        <p:nvSpPr>
          <p:cNvPr id="7" name="Text 3"/>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E3A8A"/>
                </a:solidFill>
                <a:latin typeface="Public Sans" pitchFamily="34" charset="0"/>
                <a:ea typeface="Public Sans" pitchFamily="34" charset="-122"/>
                <a:cs typeface="Public Sans" pitchFamily="34" charset="-120"/>
              </a:rPr>
              <a:t>HOW IT WORKS</a:t>
            </a:r>
            <a:endParaRPr lang="en-US" sz="1400" dirty="0"/>
          </a:p>
        </p:txBody>
      </p:sp>
      <p:sp>
        <p:nvSpPr>
          <p:cNvPr id="8" name="Text 4"/>
          <p:cNvSpPr>
            <a:spLocks noGrp="1"/>
          </p:cNvSpPr>
          <p:nvPr>
            <p:ph type="title"/>
          </p:nvPr>
        </p:nvSpPr>
        <p:spPr>
          <a:xfrm>
            <a:off x="812800" y="1214120"/>
            <a:ext cx="10883392" cy="528320"/>
          </a:xfrm>
          <a:prstGeom prst="rect">
            <a:avLst/>
          </a:prstGeom>
          <a:noFill/>
          <a:ln/>
        </p:spPr>
        <p:txBody>
          <a:bodyPr wrap="square" lIns="0" tIns="0" rIns="0" bIns="0" rtlCol="0" anchor="t">
            <a:normAutofit/>
          </a:bodyPr>
          <a:lstStyle/>
          <a:p>
            <a:pPr marL="0" indent="0" algn="l">
              <a:lnSpc>
                <a:spcPts val="3960"/>
              </a:lnSpc>
              <a:buNone/>
            </a:pPr>
            <a:r>
              <a:rPr lang="en-US" sz="3200" b="1" dirty="0"/>
              <a:t>Five small steps into a clear organized solution</a:t>
            </a:r>
          </a:p>
        </p:txBody>
      </p:sp>
      <p:sp>
        <p:nvSpPr>
          <p:cNvPr id="9" name="Shape 5"/>
          <p:cNvSpPr/>
          <p:nvPr/>
        </p:nvSpPr>
        <p:spPr>
          <a:xfrm>
            <a:off x="815975" y="2126614"/>
            <a:ext cx="1985010" cy="3712210"/>
          </a:xfrm>
          <a:prstGeom prst="roundRect">
            <a:avLst>
              <a:gd name="adj" fmla="val 6238"/>
            </a:avLst>
          </a:prstGeom>
          <a:solidFill>
            <a:srgbClr val="FFFFFF"/>
          </a:solidFill>
          <a:ln w="6350">
            <a:solidFill>
              <a:srgbClr val="E2E8F0"/>
            </a:solidFill>
            <a:prstDash val="solid"/>
          </a:ln>
        </p:spPr>
        <p:txBody>
          <a:bodyPr/>
          <a:lstStyle/>
          <a:p>
            <a:endParaRPr lang="en-001"/>
          </a:p>
        </p:txBody>
      </p:sp>
      <p:sp>
        <p:nvSpPr>
          <p:cNvPr id="10" name="Text 6"/>
          <p:cNvSpPr/>
          <p:nvPr/>
        </p:nvSpPr>
        <p:spPr>
          <a:xfrm>
            <a:off x="1046480" y="2357120"/>
            <a:ext cx="1574800" cy="523240"/>
          </a:xfrm>
          <a:prstGeom prst="rect">
            <a:avLst/>
          </a:prstGeom>
          <a:noFill/>
          <a:ln/>
        </p:spPr>
        <p:txBody>
          <a:bodyPr wrap="square" lIns="0" tIns="0" rIns="0" bIns="0" rtlCol="0" anchor="t">
            <a:normAutofit/>
          </a:bodyPr>
          <a:lstStyle/>
          <a:p>
            <a:pPr marL="0" indent="0" algn="ctr">
              <a:lnSpc>
                <a:spcPts val="3920"/>
              </a:lnSpc>
              <a:buNone/>
            </a:pPr>
            <a:r>
              <a:rPr lang="en-US" sz="2800" b="1" dirty="0">
                <a:solidFill>
                  <a:srgbClr val="1E3A8A"/>
                </a:solidFill>
                <a:latin typeface="Public Sans" pitchFamily="34" charset="0"/>
                <a:ea typeface="Public Sans" pitchFamily="34" charset="-122"/>
                <a:cs typeface="Public Sans" pitchFamily="34" charset="-120"/>
              </a:rPr>
              <a:t>1</a:t>
            </a:r>
            <a:endParaRPr lang="en-US" sz="2800" dirty="0"/>
          </a:p>
        </p:txBody>
      </p:sp>
      <p:sp>
        <p:nvSpPr>
          <p:cNvPr id="11" name="Text 7"/>
          <p:cNvSpPr/>
          <p:nvPr/>
        </p:nvSpPr>
        <p:spPr>
          <a:xfrm>
            <a:off x="1046480" y="2956561"/>
            <a:ext cx="1574800" cy="299720"/>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0F172A"/>
                </a:solidFill>
                <a:latin typeface="Public Sans" pitchFamily="34" charset="0"/>
                <a:ea typeface="Public Sans" pitchFamily="34" charset="-122"/>
                <a:cs typeface="Public Sans" pitchFamily="34" charset="-120"/>
              </a:rPr>
              <a:t>Ask</a:t>
            </a:r>
            <a:endParaRPr lang="en-US" sz="1800" dirty="0"/>
          </a:p>
        </p:txBody>
      </p:sp>
      <p:sp>
        <p:nvSpPr>
          <p:cNvPr id="12" name="Text 8"/>
          <p:cNvSpPr/>
          <p:nvPr/>
        </p:nvSpPr>
        <p:spPr>
          <a:xfrm>
            <a:off x="1046480" y="3332480"/>
            <a:ext cx="1574800" cy="146177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75569"/>
                </a:solidFill>
                <a:latin typeface="Public Sans" pitchFamily="34" charset="0"/>
                <a:ea typeface="Public Sans" pitchFamily="34" charset="-122"/>
                <a:cs typeface="Public Sans" pitchFamily="34" charset="-120"/>
              </a:rPr>
              <a:t>Receives a voice or text input in Jordanian Arabic, English or both. The transcript stays editable before sending.</a:t>
            </a:r>
            <a:endParaRPr lang="en-US" sz="1300" dirty="0"/>
          </a:p>
        </p:txBody>
      </p:sp>
      <p:sp>
        <p:nvSpPr>
          <p:cNvPr id="13" name="Shape 9"/>
          <p:cNvSpPr/>
          <p:nvPr/>
        </p:nvSpPr>
        <p:spPr>
          <a:xfrm>
            <a:off x="2959735" y="2126614"/>
            <a:ext cx="1985010" cy="3712210"/>
          </a:xfrm>
          <a:prstGeom prst="roundRect">
            <a:avLst>
              <a:gd name="adj" fmla="val 6238"/>
            </a:avLst>
          </a:prstGeom>
          <a:solidFill>
            <a:srgbClr val="FFFFFF"/>
          </a:solidFill>
          <a:ln w="6350">
            <a:solidFill>
              <a:srgbClr val="E2E8F0"/>
            </a:solidFill>
            <a:prstDash val="solid"/>
          </a:ln>
        </p:spPr>
        <p:txBody>
          <a:bodyPr/>
          <a:lstStyle/>
          <a:p>
            <a:endParaRPr lang="en-001"/>
          </a:p>
        </p:txBody>
      </p:sp>
      <p:sp>
        <p:nvSpPr>
          <p:cNvPr id="14" name="Text 10"/>
          <p:cNvSpPr/>
          <p:nvPr/>
        </p:nvSpPr>
        <p:spPr>
          <a:xfrm>
            <a:off x="3190240" y="2357120"/>
            <a:ext cx="1574800" cy="523240"/>
          </a:xfrm>
          <a:prstGeom prst="rect">
            <a:avLst/>
          </a:prstGeom>
          <a:noFill/>
          <a:ln/>
        </p:spPr>
        <p:txBody>
          <a:bodyPr wrap="square" lIns="0" tIns="0" rIns="0" bIns="0" rtlCol="0" anchor="t">
            <a:normAutofit/>
          </a:bodyPr>
          <a:lstStyle/>
          <a:p>
            <a:pPr marL="0" indent="0" algn="ctr">
              <a:lnSpc>
                <a:spcPts val="3920"/>
              </a:lnSpc>
              <a:buNone/>
            </a:pPr>
            <a:r>
              <a:rPr lang="en-US" sz="2800" b="1" dirty="0">
                <a:solidFill>
                  <a:srgbClr val="1E3A8A"/>
                </a:solidFill>
                <a:latin typeface="Public Sans" pitchFamily="34" charset="0"/>
                <a:ea typeface="Public Sans" pitchFamily="34" charset="-122"/>
                <a:cs typeface="Public Sans" pitchFamily="34" charset="-120"/>
              </a:rPr>
              <a:t>2</a:t>
            </a:r>
            <a:endParaRPr lang="en-US" sz="2800" dirty="0"/>
          </a:p>
        </p:txBody>
      </p:sp>
      <p:sp>
        <p:nvSpPr>
          <p:cNvPr id="15" name="Text 11"/>
          <p:cNvSpPr/>
          <p:nvPr/>
        </p:nvSpPr>
        <p:spPr>
          <a:xfrm>
            <a:off x="3190240" y="2956561"/>
            <a:ext cx="1574800" cy="299720"/>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0F172A"/>
                </a:solidFill>
                <a:latin typeface="Public Sans" pitchFamily="34" charset="0"/>
                <a:ea typeface="Public Sans" pitchFamily="34" charset="-122"/>
                <a:cs typeface="Public Sans" pitchFamily="34" charset="-120"/>
              </a:rPr>
              <a:t>Clarify</a:t>
            </a:r>
            <a:endParaRPr lang="en-US" sz="1800" dirty="0"/>
          </a:p>
        </p:txBody>
      </p:sp>
      <p:sp>
        <p:nvSpPr>
          <p:cNvPr id="16" name="Text 12"/>
          <p:cNvSpPr/>
          <p:nvPr/>
        </p:nvSpPr>
        <p:spPr>
          <a:xfrm>
            <a:off x="3190240" y="3332480"/>
            <a:ext cx="1574800" cy="146177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75569"/>
                </a:solidFill>
                <a:latin typeface="Public Sans" pitchFamily="34" charset="0"/>
                <a:ea typeface="Public Sans" pitchFamily="34" charset="-122"/>
                <a:cs typeface="Public Sans" pitchFamily="34" charset="-120"/>
              </a:rPr>
              <a:t>Only questions that change the route: lost or damaged, inside Jordan or abroad, steps already done.</a:t>
            </a:r>
            <a:endParaRPr lang="en-US" sz="1300" dirty="0"/>
          </a:p>
        </p:txBody>
      </p:sp>
      <p:sp>
        <p:nvSpPr>
          <p:cNvPr id="17" name="Shape 13"/>
          <p:cNvSpPr/>
          <p:nvPr/>
        </p:nvSpPr>
        <p:spPr>
          <a:xfrm>
            <a:off x="5103495" y="2126614"/>
            <a:ext cx="1985010" cy="3712210"/>
          </a:xfrm>
          <a:prstGeom prst="roundRect">
            <a:avLst>
              <a:gd name="adj" fmla="val 6238"/>
            </a:avLst>
          </a:prstGeom>
          <a:solidFill>
            <a:srgbClr val="FFFFFF"/>
          </a:solidFill>
          <a:ln w="6350">
            <a:solidFill>
              <a:srgbClr val="E2E8F0"/>
            </a:solidFill>
            <a:prstDash val="solid"/>
          </a:ln>
        </p:spPr>
        <p:txBody>
          <a:bodyPr/>
          <a:lstStyle/>
          <a:p>
            <a:endParaRPr lang="en-001"/>
          </a:p>
        </p:txBody>
      </p:sp>
      <p:sp>
        <p:nvSpPr>
          <p:cNvPr id="18" name="Text 14"/>
          <p:cNvSpPr/>
          <p:nvPr/>
        </p:nvSpPr>
        <p:spPr>
          <a:xfrm>
            <a:off x="5334000" y="2357120"/>
            <a:ext cx="1574800" cy="523240"/>
          </a:xfrm>
          <a:prstGeom prst="rect">
            <a:avLst/>
          </a:prstGeom>
          <a:noFill/>
          <a:ln/>
        </p:spPr>
        <p:txBody>
          <a:bodyPr wrap="square" lIns="0" tIns="0" rIns="0" bIns="0" rtlCol="0" anchor="t">
            <a:normAutofit/>
          </a:bodyPr>
          <a:lstStyle/>
          <a:p>
            <a:pPr marL="0" indent="0" algn="ctr">
              <a:lnSpc>
                <a:spcPts val="3920"/>
              </a:lnSpc>
              <a:buNone/>
            </a:pPr>
            <a:r>
              <a:rPr lang="en-US" sz="2800" b="1" dirty="0">
                <a:solidFill>
                  <a:srgbClr val="1E3A8A"/>
                </a:solidFill>
                <a:latin typeface="Public Sans" pitchFamily="34" charset="0"/>
                <a:ea typeface="Public Sans" pitchFamily="34" charset="-122"/>
                <a:cs typeface="Public Sans" pitchFamily="34" charset="-120"/>
              </a:rPr>
              <a:t>3</a:t>
            </a:r>
            <a:endParaRPr lang="en-US" sz="2800" dirty="0"/>
          </a:p>
        </p:txBody>
      </p:sp>
      <p:sp>
        <p:nvSpPr>
          <p:cNvPr id="19" name="Text 15"/>
          <p:cNvSpPr/>
          <p:nvPr/>
        </p:nvSpPr>
        <p:spPr>
          <a:xfrm>
            <a:off x="5334000" y="2956561"/>
            <a:ext cx="1574800" cy="299720"/>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0F172A"/>
                </a:solidFill>
                <a:latin typeface="Public Sans" pitchFamily="34" charset="0"/>
                <a:ea typeface="Public Sans" pitchFamily="34" charset="-122"/>
                <a:cs typeface="Public Sans" pitchFamily="34" charset="-120"/>
              </a:rPr>
              <a:t>Plan</a:t>
            </a:r>
            <a:endParaRPr lang="en-US" sz="1800" dirty="0"/>
          </a:p>
        </p:txBody>
      </p:sp>
      <p:sp>
        <p:nvSpPr>
          <p:cNvPr id="20" name="Text 16"/>
          <p:cNvSpPr/>
          <p:nvPr/>
        </p:nvSpPr>
        <p:spPr>
          <a:xfrm>
            <a:off x="5334000" y="3332480"/>
            <a:ext cx="1574800" cy="122237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75569"/>
                </a:solidFill>
                <a:latin typeface="Public Sans" pitchFamily="34" charset="0"/>
                <a:ea typeface="Public Sans" pitchFamily="34" charset="-122"/>
                <a:cs typeface="Public Sans" pitchFamily="34" charset="-120"/>
              </a:rPr>
              <a:t>Snapping step cards. The first card groups every task you can start right now.</a:t>
            </a:r>
            <a:endParaRPr lang="en-US" sz="1300" dirty="0"/>
          </a:p>
        </p:txBody>
      </p:sp>
      <p:sp>
        <p:nvSpPr>
          <p:cNvPr id="21" name="Shape 17"/>
          <p:cNvSpPr/>
          <p:nvPr/>
        </p:nvSpPr>
        <p:spPr>
          <a:xfrm>
            <a:off x="7247255" y="2126614"/>
            <a:ext cx="1985010" cy="3712210"/>
          </a:xfrm>
          <a:prstGeom prst="roundRect">
            <a:avLst>
              <a:gd name="adj" fmla="val 6238"/>
            </a:avLst>
          </a:prstGeom>
          <a:solidFill>
            <a:srgbClr val="FFFFFF"/>
          </a:solidFill>
          <a:ln w="6350">
            <a:solidFill>
              <a:srgbClr val="E2E8F0"/>
            </a:solidFill>
            <a:prstDash val="solid"/>
          </a:ln>
        </p:spPr>
        <p:txBody>
          <a:bodyPr/>
          <a:lstStyle/>
          <a:p>
            <a:endParaRPr lang="en-001"/>
          </a:p>
        </p:txBody>
      </p:sp>
      <p:sp>
        <p:nvSpPr>
          <p:cNvPr id="22" name="Text 18"/>
          <p:cNvSpPr/>
          <p:nvPr/>
        </p:nvSpPr>
        <p:spPr>
          <a:xfrm>
            <a:off x="7477760" y="2357120"/>
            <a:ext cx="1574800" cy="523240"/>
          </a:xfrm>
          <a:prstGeom prst="rect">
            <a:avLst/>
          </a:prstGeom>
          <a:noFill/>
          <a:ln/>
        </p:spPr>
        <p:txBody>
          <a:bodyPr wrap="square" lIns="0" tIns="0" rIns="0" bIns="0" rtlCol="0" anchor="t">
            <a:normAutofit/>
          </a:bodyPr>
          <a:lstStyle/>
          <a:p>
            <a:pPr marL="0" indent="0" algn="ctr">
              <a:lnSpc>
                <a:spcPts val="3920"/>
              </a:lnSpc>
              <a:buNone/>
            </a:pPr>
            <a:r>
              <a:rPr lang="en-US" sz="2800" b="1" dirty="0">
                <a:solidFill>
                  <a:srgbClr val="1E3A8A"/>
                </a:solidFill>
                <a:latin typeface="Public Sans" pitchFamily="34" charset="0"/>
                <a:ea typeface="Public Sans" pitchFamily="34" charset="-122"/>
                <a:cs typeface="Public Sans" pitchFamily="34" charset="-120"/>
              </a:rPr>
              <a:t>4</a:t>
            </a:r>
            <a:endParaRPr lang="en-US" sz="2800" dirty="0"/>
          </a:p>
        </p:txBody>
      </p:sp>
      <p:sp>
        <p:nvSpPr>
          <p:cNvPr id="23" name="Text 19"/>
          <p:cNvSpPr/>
          <p:nvPr/>
        </p:nvSpPr>
        <p:spPr>
          <a:xfrm>
            <a:off x="7477760" y="2956561"/>
            <a:ext cx="1574800" cy="299720"/>
          </a:xfrm>
          <a:prstGeom prst="rect">
            <a:avLst/>
          </a:prstGeom>
          <a:noFill/>
          <a:ln/>
        </p:spPr>
        <p:txBody>
          <a:bodyPr wrap="square" lIns="0" tIns="0" rIns="0" bIns="0" rtlCol="0" anchor="t">
            <a:normAutofit/>
          </a:bodyPr>
          <a:lstStyle/>
          <a:p>
            <a:pPr marL="0" indent="0" algn="ctr">
              <a:lnSpc>
                <a:spcPts val="2160"/>
              </a:lnSpc>
              <a:buNone/>
            </a:pPr>
            <a:r>
              <a:rPr lang="en-US" b="1" dirty="0">
                <a:solidFill>
                  <a:srgbClr val="0F172A"/>
                </a:solidFill>
                <a:latin typeface="Public Sans" pitchFamily="34" charset="0"/>
                <a:ea typeface="Public Sans" pitchFamily="34" charset="-122"/>
              </a:rPr>
              <a:t>Execution</a:t>
            </a:r>
            <a:endParaRPr lang="en-US" sz="1800" dirty="0"/>
          </a:p>
        </p:txBody>
      </p:sp>
      <p:sp>
        <p:nvSpPr>
          <p:cNvPr id="24" name="Text 20"/>
          <p:cNvSpPr/>
          <p:nvPr/>
        </p:nvSpPr>
        <p:spPr>
          <a:xfrm>
            <a:off x="7477760" y="3332480"/>
            <a:ext cx="1574800" cy="146177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75569"/>
                </a:solidFill>
                <a:latin typeface="Public Sans" pitchFamily="34" charset="0"/>
                <a:ea typeface="Public Sans" pitchFamily="34" charset="-122"/>
                <a:cs typeface="Public Sans" pitchFamily="34" charset="-120"/>
              </a:rPr>
              <a:t>Checklists for documents, actions, payments and visits, plus up to three nearby places.</a:t>
            </a:r>
            <a:endParaRPr lang="en-US" sz="1300" dirty="0"/>
          </a:p>
        </p:txBody>
      </p:sp>
      <p:sp>
        <p:nvSpPr>
          <p:cNvPr id="25" name="Shape 21"/>
          <p:cNvSpPr/>
          <p:nvPr/>
        </p:nvSpPr>
        <p:spPr>
          <a:xfrm>
            <a:off x="9391015" y="2126614"/>
            <a:ext cx="1985010" cy="3712210"/>
          </a:xfrm>
          <a:prstGeom prst="roundRect">
            <a:avLst>
              <a:gd name="adj" fmla="val 6238"/>
            </a:avLst>
          </a:prstGeom>
          <a:solidFill>
            <a:srgbClr val="FFFFFF"/>
          </a:solidFill>
          <a:ln w="6350">
            <a:solidFill>
              <a:srgbClr val="E2E8F0"/>
            </a:solidFill>
            <a:prstDash val="solid"/>
          </a:ln>
        </p:spPr>
        <p:txBody>
          <a:bodyPr/>
          <a:lstStyle/>
          <a:p>
            <a:endParaRPr lang="en-001"/>
          </a:p>
        </p:txBody>
      </p:sp>
      <p:sp>
        <p:nvSpPr>
          <p:cNvPr id="26" name="Text 22"/>
          <p:cNvSpPr/>
          <p:nvPr/>
        </p:nvSpPr>
        <p:spPr>
          <a:xfrm>
            <a:off x="9621520" y="2357120"/>
            <a:ext cx="1574800" cy="523240"/>
          </a:xfrm>
          <a:prstGeom prst="rect">
            <a:avLst/>
          </a:prstGeom>
          <a:noFill/>
          <a:ln/>
        </p:spPr>
        <p:txBody>
          <a:bodyPr wrap="square" lIns="0" tIns="0" rIns="0" bIns="0" rtlCol="0" anchor="t">
            <a:normAutofit/>
          </a:bodyPr>
          <a:lstStyle/>
          <a:p>
            <a:pPr marL="0" indent="0" algn="ctr">
              <a:lnSpc>
                <a:spcPts val="3920"/>
              </a:lnSpc>
              <a:buNone/>
            </a:pPr>
            <a:r>
              <a:rPr lang="en-US" sz="2800" b="1" dirty="0">
                <a:solidFill>
                  <a:srgbClr val="B45309"/>
                </a:solidFill>
                <a:latin typeface="Public Sans" pitchFamily="34" charset="0"/>
                <a:ea typeface="Public Sans" pitchFamily="34" charset="-122"/>
                <a:cs typeface="Public Sans" pitchFamily="34" charset="-120"/>
              </a:rPr>
              <a:t>5</a:t>
            </a:r>
            <a:endParaRPr lang="en-US" sz="2800" dirty="0"/>
          </a:p>
        </p:txBody>
      </p:sp>
      <p:sp>
        <p:nvSpPr>
          <p:cNvPr id="27" name="Text 23"/>
          <p:cNvSpPr/>
          <p:nvPr/>
        </p:nvSpPr>
        <p:spPr>
          <a:xfrm>
            <a:off x="9621520" y="2956561"/>
            <a:ext cx="1574800" cy="299720"/>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0F172A"/>
                </a:solidFill>
                <a:latin typeface="Public Sans" pitchFamily="34" charset="0"/>
                <a:ea typeface="Public Sans" pitchFamily="34" charset="-122"/>
                <a:cs typeface="Public Sans" pitchFamily="34" charset="-120"/>
              </a:rPr>
              <a:t>Track</a:t>
            </a:r>
            <a:endParaRPr lang="en-US" sz="1800" dirty="0"/>
          </a:p>
        </p:txBody>
      </p:sp>
      <p:sp>
        <p:nvSpPr>
          <p:cNvPr id="28" name="Text 24"/>
          <p:cNvSpPr/>
          <p:nvPr/>
        </p:nvSpPr>
        <p:spPr>
          <a:xfrm>
            <a:off x="9621520" y="3332480"/>
            <a:ext cx="1574800" cy="98298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75569"/>
                </a:solidFill>
                <a:latin typeface="Public Sans" pitchFamily="34" charset="0"/>
                <a:ea typeface="Public Sans" pitchFamily="34" charset="-122"/>
                <a:cs typeface="Public Sans" pitchFamily="34" charset="-120"/>
              </a:rPr>
              <a:t>Save and resume later. Operations sit in new, ongoing or completed.</a:t>
            </a:r>
            <a:endParaRPr lang="en-US" sz="1300" dirty="0"/>
          </a:p>
        </p:txBody>
      </p:sp>
      <p:sp>
        <p:nvSpPr>
          <p:cNvPr id="29" name="Text 25"/>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4748B"/>
                </a:solidFill>
                <a:latin typeface="Public Sans" pitchFamily="34" charset="0"/>
                <a:ea typeface="Public Sans" pitchFamily="34" charset="-122"/>
                <a:cs typeface="Public Sans" pitchFamily="34" charset="-120"/>
              </a:rPr>
              <a:t>DALEELAK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9331"/>
            <a:ext cx="12192000" cy="6858000"/>
          </a:xfrm>
          <a:prstGeom prst="rect">
            <a:avLst/>
          </a:prstGeom>
          <a:gradFill rotWithShape="1">
            <a:gsLst>
              <a:gs pos="0">
                <a:srgbClr val="F8FAFC"/>
              </a:gs>
              <a:gs pos="55000">
                <a:srgbClr val="F8FAFC"/>
              </a:gs>
              <a:gs pos="100000">
                <a:srgbClr val="E6EEFD"/>
              </a:gs>
            </a:gsLst>
            <a:lin ang="4200000" scaled="0"/>
          </a:gradFill>
          <a:ln/>
        </p:spPr>
        <p:txBody>
          <a:bodyPr/>
          <a:lstStyle/>
          <a:p>
            <a:endParaRPr lang="en-001"/>
          </a:p>
        </p:txBody>
      </p:sp>
      <p:sp>
        <p:nvSpPr>
          <p:cNvPr id="3" name="Shape 1"/>
          <p:cNvSpPr/>
          <p:nvPr/>
        </p:nvSpPr>
        <p:spPr>
          <a:xfrm>
            <a:off x="0" y="4064000"/>
            <a:ext cx="4826000" cy="2794000"/>
          </a:xfrm>
          <a:prstGeom prst="rect">
            <a:avLst/>
          </a:prstGeom>
          <a:gradFill rotWithShape="1">
            <a:gsLst>
              <a:gs pos="0">
                <a:srgbClr val="F59E0B">
                  <a:alpha val="18000"/>
                </a:srgbClr>
              </a:gs>
              <a:gs pos="40000">
                <a:srgbClr val="F59E0B">
                  <a:alpha val="6000"/>
                </a:srgbClr>
              </a:gs>
              <a:gs pos="70000">
                <a:srgbClr val="F59E0B">
                  <a:alpha val="0"/>
                </a:srgbClr>
              </a:gs>
            </a:gsLst>
            <a:path path="circle">
              <a:fillToRect t="100000" r="100000"/>
            </a:path>
          </a:gradFill>
          <a:ln/>
        </p:spPr>
        <p:txBody>
          <a:bodyPr/>
          <a:lstStyle/>
          <a:p>
            <a:endParaRPr lang="en-001"/>
          </a:p>
        </p:txBody>
      </p:sp>
      <p:sp>
        <p:nvSpPr>
          <p:cNvPr id="4" name="Shape 2"/>
          <p:cNvSpPr/>
          <p:nvPr/>
        </p:nvSpPr>
        <p:spPr>
          <a:xfrm>
            <a:off x="8509000" y="0"/>
            <a:ext cx="3683000" cy="6858000"/>
          </a:xfrm>
          <a:prstGeom prst="rect">
            <a:avLst/>
          </a:prstGeom>
          <a:gradFill rotWithShape="1">
            <a:gsLst>
              <a:gs pos="0">
                <a:srgbClr val="E6EFFE"/>
              </a:gs>
              <a:gs pos="45000">
                <a:srgbClr val="DBEAFE"/>
              </a:gs>
              <a:gs pos="100000">
                <a:srgbClr val="BFD4F9"/>
              </a:gs>
            </a:gsLst>
            <a:lin ang="5400000" scaled="0"/>
          </a:gradFill>
          <a:ln/>
        </p:spPr>
        <p:txBody>
          <a:bodyPr/>
          <a:lstStyle/>
          <a:p>
            <a:endParaRPr lang="en-001"/>
          </a:p>
        </p:txBody>
      </p:sp>
      <p:sp>
        <p:nvSpPr>
          <p:cNvPr id="5" name="Shape 3"/>
          <p:cNvSpPr/>
          <p:nvPr/>
        </p:nvSpPr>
        <p:spPr>
          <a:xfrm>
            <a:off x="8509000" y="0"/>
            <a:ext cx="3683000" cy="3810000"/>
          </a:xfrm>
          <a:prstGeom prst="rect">
            <a:avLst/>
          </a:prstGeom>
          <a:gradFill rotWithShape="1">
            <a:gsLst>
              <a:gs pos="0">
                <a:srgbClr val="1E3A8A">
                  <a:alpha val="22000"/>
                </a:srgbClr>
              </a:gs>
              <a:gs pos="70000">
                <a:srgbClr val="1E3A8A">
                  <a:alpha val="0"/>
                </a:srgbClr>
              </a:gs>
            </a:gsLst>
            <a:path path="circle">
              <a:fillToRect l="100000" b="100000"/>
            </a:path>
          </a:gradFill>
          <a:ln/>
        </p:spPr>
        <p:txBody>
          <a:bodyPr/>
          <a:lstStyle/>
          <a:p>
            <a:endParaRPr lang="en-001"/>
          </a:p>
        </p:txBody>
      </p:sp>
      <p:pic>
        <p:nvPicPr>
          <p:cNvPr id="6" name="Image 0" descr="ellipse"/>
          <p:cNvPicPr>
            <a:picLocks noChangeAspect="1"/>
          </p:cNvPicPr>
          <p:nvPr/>
        </p:nvPicPr>
        <p:blipFill>
          <a:blip r:embed="rId3"/>
          <a:srcRect/>
          <a:stretch/>
        </p:blipFill>
        <p:spPr>
          <a:xfrm>
            <a:off x="8763000" y="3429000"/>
            <a:ext cx="2921000" cy="2921000"/>
          </a:xfrm>
          <a:prstGeom prst="rect">
            <a:avLst/>
          </a:prstGeom>
        </p:spPr>
      </p:pic>
      <p:pic>
        <p:nvPicPr>
          <p:cNvPr id="7" name="Image 1" descr="ellipse"/>
          <p:cNvPicPr>
            <a:picLocks noChangeAspect="1"/>
          </p:cNvPicPr>
          <p:nvPr/>
        </p:nvPicPr>
        <p:blipFill>
          <a:blip r:embed="rId4"/>
          <a:srcRect/>
          <a:stretch/>
        </p:blipFill>
        <p:spPr>
          <a:xfrm>
            <a:off x="8712200" y="762000"/>
            <a:ext cx="952500" cy="952500"/>
          </a:xfrm>
          <a:prstGeom prst="rect">
            <a:avLst/>
          </a:prstGeom>
        </p:spPr>
      </p:pic>
      <p:sp>
        <p:nvSpPr>
          <p:cNvPr id="10" name="Text 4"/>
          <p:cNvSpPr/>
          <p:nvPr/>
        </p:nvSpPr>
        <p:spPr>
          <a:xfrm>
            <a:off x="812800" y="812800"/>
            <a:ext cx="7325360"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E3A8A"/>
                </a:solidFill>
                <a:latin typeface="Public Sans" pitchFamily="34" charset="0"/>
                <a:ea typeface="Public Sans" pitchFamily="34" charset="-122"/>
                <a:cs typeface="Public Sans" pitchFamily="34" charset="-120"/>
              </a:rPr>
              <a:t>PILOT JOURNEY</a:t>
            </a:r>
            <a:endParaRPr lang="en-US" sz="1400" dirty="0"/>
          </a:p>
        </p:txBody>
      </p:sp>
      <p:sp>
        <p:nvSpPr>
          <p:cNvPr id="11" name="Text 5"/>
          <p:cNvSpPr>
            <a:spLocks noGrp="1"/>
          </p:cNvSpPr>
          <p:nvPr>
            <p:ph type="title"/>
          </p:nvPr>
        </p:nvSpPr>
        <p:spPr>
          <a:xfrm>
            <a:off x="812800" y="1214121"/>
            <a:ext cx="7325360"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72A"/>
                </a:solidFill>
                <a:latin typeface="Public Sans" pitchFamily="34" charset="0"/>
                <a:ea typeface="Public Sans" pitchFamily="34" charset="-122"/>
                <a:cs typeface="Public Sans" pitchFamily="34" charset="-120"/>
              </a:rPr>
              <a:t>Replacing a lost family book</a:t>
            </a:r>
            <a:endParaRPr lang="en-US" sz="3600" dirty="0"/>
          </a:p>
        </p:txBody>
      </p:sp>
      <p:sp>
        <p:nvSpPr>
          <p:cNvPr id="12" name="Text 6"/>
          <p:cNvSpPr/>
          <p:nvPr/>
        </p:nvSpPr>
        <p:spPr>
          <a:xfrm>
            <a:off x="812800" y="1869439"/>
            <a:ext cx="7325360"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E3A8A"/>
                </a:solidFill>
                <a:latin typeface="IBM Plex Sans Arabic" pitchFamily="34" charset="0"/>
                <a:ea typeface="IBM Plex Sans Arabic" pitchFamily="34" charset="-122"/>
                <a:cs typeface="IBM Plex Sans Arabic" pitchFamily="34" charset="-120"/>
              </a:rPr>
              <a:t>تعويض دفتر عائلة مفقود</a:t>
            </a:r>
            <a:endParaRPr lang="en-US" sz="1800" dirty="0"/>
          </a:p>
        </p:txBody>
      </p:sp>
      <p:sp>
        <p:nvSpPr>
          <p:cNvPr id="13" name="Text 7"/>
          <p:cNvSpPr/>
          <p:nvPr/>
        </p:nvSpPr>
        <p:spPr>
          <a:xfrm>
            <a:off x="814176" y="2494279"/>
            <a:ext cx="7316364" cy="1915160"/>
          </a:xfrm>
          <a:prstGeom prst="rect">
            <a:avLst/>
          </a:prstGeom>
          <a:noFill/>
          <a:ln/>
        </p:spPr>
        <p:txBody>
          <a:bodyPr wrap="square" lIns="0" tIns="0" rIns="0" bIns="0" rtlCol="0" anchor="t">
            <a:normAutofit/>
          </a:bodyPr>
          <a:lstStyle/>
          <a:p>
            <a:pPr marL="252624" indent="-252624" algn="l">
              <a:lnSpc>
                <a:spcPts val="2480"/>
              </a:lnSpc>
              <a:buSzPct val="100000"/>
              <a:buFontTx/>
              <a:buAutoNum type="arabicPeriod"/>
            </a:pPr>
            <a:r>
              <a:rPr lang="en-US" sz="1600" dirty="0">
                <a:solidFill>
                  <a:srgbClr val="334155"/>
                </a:solidFill>
                <a:latin typeface="Public Sans" pitchFamily="34" charset="0"/>
                <a:ea typeface="Public Sans" pitchFamily="34" charset="-122"/>
                <a:cs typeface="Public Sans" pitchFamily="34" charset="-120"/>
              </a:rPr>
              <a:t>Describe a first, local loss in Arabic</a:t>
            </a:r>
            <a:endParaRPr lang="en-US" sz="1600" dirty="0"/>
          </a:p>
          <a:p>
            <a:pPr marL="252624" indent="-252624" algn="l">
              <a:lnSpc>
                <a:spcPts val="2480"/>
              </a:lnSpc>
              <a:buSzPct val="100000"/>
              <a:buFontTx/>
              <a:buAutoNum type="arabicPeriod"/>
            </a:pPr>
            <a:r>
              <a:rPr lang="en-US" sz="1600" dirty="0">
                <a:solidFill>
                  <a:srgbClr val="334155"/>
                </a:solidFill>
                <a:latin typeface="Public Sans" pitchFamily="34" charset="0"/>
                <a:ea typeface="Public Sans" pitchFamily="34" charset="-122"/>
                <a:cs typeface="Public Sans" pitchFamily="34" charset="-120"/>
              </a:rPr>
              <a:t>Answer one relevant question and confirm the summary</a:t>
            </a:r>
            <a:endParaRPr lang="en-US" sz="1600" dirty="0"/>
          </a:p>
          <a:p>
            <a:pPr marL="252624" indent="-252624" algn="l">
              <a:lnSpc>
                <a:spcPts val="2480"/>
              </a:lnSpc>
              <a:buSzPct val="100000"/>
              <a:buFontTx/>
              <a:buAutoNum type="arabicPeriod"/>
            </a:pPr>
            <a:r>
              <a:rPr lang="en-US" sz="1600" dirty="0">
                <a:solidFill>
                  <a:srgbClr val="334155"/>
                </a:solidFill>
                <a:latin typeface="Public Sans" pitchFamily="34" charset="0"/>
                <a:ea typeface="Public Sans" pitchFamily="34" charset="-122"/>
                <a:cs typeface="Public Sans" pitchFamily="34" charset="-120"/>
              </a:rPr>
              <a:t>Open a step with its checklists and nearby options</a:t>
            </a:r>
            <a:endParaRPr lang="en-US" sz="1600" dirty="0"/>
          </a:p>
          <a:p>
            <a:pPr marL="252624" indent="-252624" algn="l">
              <a:lnSpc>
                <a:spcPts val="2480"/>
              </a:lnSpc>
              <a:buSzPct val="100000"/>
              <a:buFontTx/>
              <a:buAutoNum type="arabicPeriod"/>
            </a:pPr>
            <a:r>
              <a:rPr lang="en-US" sz="1600" dirty="0">
                <a:solidFill>
                  <a:srgbClr val="334155"/>
                </a:solidFill>
                <a:latin typeface="Public Sans" pitchFamily="34" charset="0"/>
                <a:ea typeface="Public Sans" pitchFamily="34" charset="-122"/>
                <a:cs typeface="Public Sans" pitchFamily="34" charset="-120"/>
              </a:rPr>
              <a:t>Save, leave, and resume at the next action</a:t>
            </a:r>
            <a:endParaRPr lang="en-US" sz="1600" dirty="0"/>
          </a:p>
          <a:p>
            <a:pPr marL="252624" indent="-252624" algn="l">
              <a:lnSpc>
                <a:spcPts val="2480"/>
              </a:lnSpc>
              <a:buSzPct val="100000"/>
              <a:buFontTx/>
              <a:buAutoNum type="arabicPeriod"/>
            </a:pPr>
            <a:r>
              <a:rPr lang="en-US" sz="1600" dirty="0">
                <a:solidFill>
                  <a:srgbClr val="334155"/>
                </a:solidFill>
                <a:latin typeface="Public Sans" pitchFamily="34" charset="0"/>
                <a:ea typeface="Public Sans" pitchFamily="34" charset="-122"/>
                <a:cs typeface="Public Sans" pitchFamily="34" charset="-120"/>
              </a:rPr>
              <a:t>Change an answer and see requirements update</a:t>
            </a:r>
            <a:endParaRPr lang="en-US" sz="1600" dirty="0"/>
          </a:p>
          <a:p>
            <a:pPr marL="252624" indent="-252624" algn="l">
              <a:lnSpc>
                <a:spcPts val="2480"/>
              </a:lnSpc>
              <a:buSzPct val="100000"/>
              <a:buFontTx/>
              <a:buAutoNum type="arabicPeriod"/>
            </a:pPr>
            <a:r>
              <a:rPr lang="en-US" sz="1600" dirty="0">
                <a:solidFill>
                  <a:srgbClr val="334155"/>
                </a:solidFill>
                <a:latin typeface="Public Sans" pitchFamily="34" charset="0"/>
                <a:ea typeface="Public Sans" pitchFamily="34" charset="-122"/>
                <a:cs typeface="Public Sans" pitchFamily="34" charset="-120"/>
              </a:rPr>
              <a:t>Mark progress, then complete or reopen</a:t>
            </a:r>
            <a:endParaRPr lang="en-US" sz="1600" dirty="0"/>
          </a:p>
        </p:txBody>
      </p:sp>
      <p:sp>
        <p:nvSpPr>
          <p:cNvPr id="14" name="Text 8"/>
          <p:cNvSpPr/>
          <p:nvPr/>
        </p:nvSpPr>
        <p:spPr>
          <a:xfrm>
            <a:off x="812800" y="6238239"/>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4748B"/>
                </a:solidFill>
                <a:latin typeface="Public Sans" pitchFamily="34" charset="0"/>
                <a:ea typeface="Public Sans" pitchFamily="34" charset="-122"/>
                <a:cs typeface="Public Sans" pitchFamily="34" charset="-120"/>
              </a:rPr>
              <a:t>DALEELAK · 05 · Screenshot: Android build, 10 Oct 2026</a:t>
            </a:r>
            <a:endParaRPr lang="en-US" sz="1200" dirty="0"/>
          </a:p>
        </p:txBody>
      </p:sp>
      <p:pic>
        <p:nvPicPr>
          <p:cNvPr id="16" name="Picture 15">
            <a:extLst>
              <a:ext uri="{FF2B5EF4-FFF2-40B4-BE49-F238E27FC236}">
                <a16:creationId xmlns:a16="http://schemas.microsoft.com/office/drawing/2014/main" id="{1A65F648-F697-5814-DFEA-46B70D52BF3D}"/>
              </a:ext>
            </a:extLst>
          </p:cNvPr>
          <p:cNvPicPr>
            <a:picLocks noChangeAspect="1"/>
          </p:cNvPicPr>
          <p:nvPr/>
        </p:nvPicPr>
        <p:blipFill>
          <a:blip r:embed="rId5"/>
          <a:stretch>
            <a:fillRect/>
          </a:stretch>
        </p:blipFill>
        <p:spPr>
          <a:xfrm>
            <a:off x="9020053" y="508000"/>
            <a:ext cx="2660893" cy="570613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DBEAFE"/>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8F0FE"/>
              </a:gs>
              <a:gs pos="50000">
                <a:srgbClr val="DBEAFE"/>
              </a:gs>
              <a:gs pos="100000">
                <a:srgbClr val="C9DBFA"/>
              </a:gs>
            </a:gsLst>
            <a:lin ang="4200000" scaled="0"/>
          </a:gradFill>
          <a:ln/>
        </p:spPr>
        <p:txBody>
          <a:bodyPr/>
          <a:lstStyle/>
          <a:p>
            <a:endParaRPr lang="en-001"/>
          </a:p>
        </p:txBody>
      </p:sp>
      <p:sp>
        <p:nvSpPr>
          <p:cNvPr id="3" name="Shape 1"/>
          <p:cNvSpPr/>
          <p:nvPr/>
        </p:nvSpPr>
        <p:spPr>
          <a:xfrm>
            <a:off x="7112000" y="0"/>
            <a:ext cx="5080000" cy="3937000"/>
          </a:xfrm>
          <a:prstGeom prst="rect">
            <a:avLst/>
          </a:prstGeom>
          <a:gradFill rotWithShape="1">
            <a:gsLst>
              <a:gs pos="0">
                <a:srgbClr val="1E3A8A">
                  <a:alpha val="20000"/>
                </a:srgbClr>
              </a:gs>
              <a:gs pos="40000">
                <a:srgbClr val="1E3A8A">
                  <a:alpha val="7000"/>
                </a:srgbClr>
              </a:gs>
              <a:gs pos="72000">
                <a:srgbClr val="1E3A8A">
                  <a:alpha val="0"/>
                </a:srgbClr>
              </a:gs>
            </a:gsLst>
            <a:path path="circle">
              <a:fillToRect l="100000" b="100000"/>
            </a:path>
          </a:gradFill>
          <a:ln/>
        </p:spPr>
        <p:txBody>
          <a:bodyPr/>
          <a:lstStyle/>
          <a:p>
            <a:endParaRPr lang="en-001"/>
          </a:p>
        </p:txBody>
      </p:sp>
      <p:sp>
        <p:nvSpPr>
          <p:cNvPr id="4" name="Shape 2"/>
          <p:cNvSpPr/>
          <p:nvPr/>
        </p:nvSpPr>
        <p:spPr>
          <a:xfrm>
            <a:off x="0" y="4064000"/>
            <a:ext cx="4826000" cy="2794000"/>
          </a:xfrm>
          <a:prstGeom prst="rect">
            <a:avLst/>
          </a:prstGeom>
          <a:gradFill rotWithShape="1">
            <a:gsLst>
              <a:gs pos="0">
                <a:srgbClr val="F59E0B">
                  <a:alpha val="20000"/>
                </a:srgbClr>
              </a:gs>
              <a:gs pos="40000">
                <a:srgbClr val="F59E0B">
                  <a:alpha val="7000"/>
                </a:srgbClr>
              </a:gs>
              <a:gs pos="70000">
                <a:srgbClr val="F59E0B">
                  <a:alpha val="0"/>
                </a:srgbClr>
              </a:gs>
            </a:gsLst>
            <a:path path="circle">
              <a:fillToRect t="100000" r="100000"/>
            </a:path>
          </a:gradFill>
          <a:ln/>
        </p:spPr>
        <p:txBody>
          <a:bodyPr/>
          <a:lstStyle/>
          <a:p>
            <a:endParaRPr lang="en-001"/>
          </a:p>
        </p:txBody>
      </p:sp>
      <p:pic>
        <p:nvPicPr>
          <p:cNvPr id="5" name="Image 0" descr="ellipse"/>
          <p:cNvPicPr>
            <a:picLocks noChangeAspect="1"/>
          </p:cNvPicPr>
          <p:nvPr/>
        </p:nvPicPr>
        <p:blipFill>
          <a:blip r:embed="rId3"/>
          <a:srcRect/>
          <a:stretch/>
        </p:blipFill>
        <p:spPr>
          <a:xfrm>
            <a:off x="10160000" y="304800"/>
            <a:ext cx="1727200" cy="1727200"/>
          </a:xfrm>
          <a:prstGeom prst="rect">
            <a:avLst/>
          </a:prstGeom>
        </p:spPr>
      </p:pic>
      <p:pic>
        <p:nvPicPr>
          <p:cNvPr id="6" name="Image 1" descr="ellipse"/>
          <p:cNvPicPr>
            <a:picLocks noChangeAspect="1"/>
          </p:cNvPicPr>
          <p:nvPr/>
        </p:nvPicPr>
        <p:blipFill>
          <a:blip r:embed="rId4"/>
          <a:srcRect/>
          <a:stretch/>
        </p:blipFill>
        <p:spPr>
          <a:xfrm>
            <a:off x="11817350" y="1099820"/>
            <a:ext cx="139700" cy="139700"/>
          </a:xfrm>
          <a:prstGeom prst="rect">
            <a:avLst/>
          </a:prstGeom>
        </p:spPr>
      </p:pic>
      <p:sp>
        <p:nvSpPr>
          <p:cNvPr id="7" name="Text 3"/>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E3A8A"/>
                </a:solidFill>
                <a:latin typeface="Public Sans" pitchFamily="34" charset="0"/>
                <a:ea typeface="Public Sans" pitchFamily="34" charset="-122"/>
                <a:cs typeface="Public Sans" pitchFamily="34" charset="-120"/>
              </a:rPr>
              <a:t>TRUST BY DESIGN</a:t>
            </a:r>
            <a:endParaRPr lang="en-US" sz="1400" dirty="0"/>
          </a:p>
        </p:txBody>
      </p:sp>
      <p:sp>
        <p:nvSpPr>
          <p:cNvPr id="8" name="Text 4"/>
          <p:cNvSpPr>
            <a:spLocks noGrp="1"/>
          </p:cNvSpPr>
          <p:nvPr>
            <p:ph type="title"/>
          </p:nvPr>
        </p:nvSpPr>
        <p:spPr>
          <a:xfrm>
            <a:off x="812800" y="12141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72A"/>
                </a:solidFill>
                <a:latin typeface="Public Sans" pitchFamily="34" charset="0"/>
                <a:ea typeface="Public Sans" pitchFamily="34" charset="-122"/>
                <a:cs typeface="Public Sans" pitchFamily="34" charset="-120"/>
              </a:rPr>
              <a:t>The AI interprets. Reviewed sources decide.</a:t>
            </a:r>
            <a:endParaRPr lang="en-US" sz="3600" dirty="0"/>
          </a:p>
        </p:txBody>
      </p:sp>
      <p:sp>
        <p:nvSpPr>
          <p:cNvPr id="9" name="Shape 5"/>
          <p:cNvSpPr/>
          <p:nvPr/>
        </p:nvSpPr>
        <p:spPr>
          <a:xfrm>
            <a:off x="812800" y="2072639"/>
            <a:ext cx="5181600" cy="3129280"/>
          </a:xfrm>
          <a:prstGeom prst="roundRect">
            <a:avLst>
              <a:gd name="adj" fmla="val 4870"/>
            </a:avLst>
          </a:prstGeom>
          <a:solidFill>
            <a:srgbClr val="FFFFFF"/>
          </a:solidFill>
          <a:ln/>
        </p:spPr>
        <p:txBody>
          <a:bodyPr/>
          <a:lstStyle/>
          <a:p>
            <a:endParaRPr lang="en-001"/>
          </a:p>
        </p:txBody>
      </p:sp>
      <p:pic>
        <p:nvPicPr>
          <p:cNvPr id="10" name="Image 2" descr="Chat"/>
          <p:cNvPicPr>
            <a:picLocks noChangeAspect="1"/>
          </p:cNvPicPr>
          <p:nvPr/>
        </p:nvPicPr>
        <p:blipFill>
          <a:blip r:embed="rId5"/>
          <a:srcRect/>
          <a:stretch/>
        </p:blipFill>
        <p:spPr>
          <a:xfrm>
            <a:off x="1117600" y="2377439"/>
            <a:ext cx="304800" cy="304800"/>
          </a:xfrm>
          <a:prstGeom prst="rect">
            <a:avLst/>
          </a:prstGeom>
        </p:spPr>
      </p:pic>
      <p:sp>
        <p:nvSpPr>
          <p:cNvPr id="11" name="Text 6"/>
          <p:cNvSpPr/>
          <p:nvPr/>
        </p:nvSpPr>
        <p:spPr>
          <a:xfrm>
            <a:off x="1524000" y="2377439"/>
            <a:ext cx="190550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172A"/>
                </a:solidFill>
                <a:latin typeface="Public Sans" pitchFamily="34" charset="0"/>
                <a:ea typeface="Public Sans" pitchFamily="34" charset="-122"/>
                <a:cs typeface="Public Sans" pitchFamily="34" charset="-120"/>
              </a:rPr>
              <a:t>The AI model</a:t>
            </a:r>
            <a:endParaRPr lang="en-US" sz="2000" dirty="0"/>
          </a:p>
        </p:txBody>
      </p:sp>
      <p:sp>
        <p:nvSpPr>
          <p:cNvPr id="12" name="Text 7"/>
          <p:cNvSpPr/>
          <p:nvPr/>
        </p:nvSpPr>
        <p:spPr>
          <a:xfrm>
            <a:off x="1195070" y="2809239"/>
            <a:ext cx="4624070" cy="1206500"/>
          </a:xfrm>
          <a:prstGeom prst="rect">
            <a:avLst/>
          </a:prstGeom>
          <a:noFill/>
          <a:ln/>
        </p:spPr>
        <p:txBody>
          <a:bodyPr wrap="square" lIns="0" tIns="0" rIns="0" bIns="0" rtlCol="0" anchor="t">
            <a:normAutofit/>
          </a:bodyPr>
          <a:lstStyle/>
          <a:p>
            <a:pPr marL="176530" indent="-176530" algn="l">
              <a:lnSpc>
                <a:spcPts val="2325"/>
              </a:lnSpc>
              <a:buSzPct val="100000"/>
              <a:buChar char="•"/>
            </a:pPr>
            <a:r>
              <a:rPr lang="en-US" sz="1500" dirty="0">
                <a:solidFill>
                  <a:srgbClr val="334155"/>
                </a:solidFill>
                <a:latin typeface="Public Sans" pitchFamily="34" charset="0"/>
                <a:ea typeface="Public Sans" pitchFamily="34" charset="-122"/>
                <a:cs typeface="Public Sans" pitchFamily="34" charset="-120"/>
              </a:rPr>
              <a:t>Understands everyday Jordanian Arabic</a:t>
            </a:r>
            <a:endParaRPr lang="en-US" sz="1500" dirty="0"/>
          </a:p>
          <a:p>
            <a:pPr marL="176530" indent="-176530" algn="l">
              <a:lnSpc>
                <a:spcPts val="2325"/>
              </a:lnSpc>
              <a:buSzPct val="100000"/>
              <a:buChar char="•"/>
            </a:pPr>
            <a:r>
              <a:rPr lang="en-US" sz="1500" dirty="0">
                <a:solidFill>
                  <a:srgbClr val="334155"/>
                </a:solidFill>
                <a:latin typeface="Public Sans" pitchFamily="34" charset="0"/>
                <a:ea typeface="Public Sans" pitchFamily="34" charset="-122"/>
                <a:cs typeface="Public Sans" pitchFamily="34" charset="-120"/>
              </a:rPr>
              <a:t>Picks only questions that change the route</a:t>
            </a:r>
            <a:endParaRPr lang="en-US" sz="1500" dirty="0"/>
          </a:p>
          <a:p>
            <a:pPr marL="176530" indent="-176530" algn="l">
              <a:lnSpc>
                <a:spcPts val="2325"/>
              </a:lnSpc>
              <a:buSzPct val="100000"/>
              <a:buChar char="•"/>
            </a:pPr>
            <a:r>
              <a:rPr lang="en-US" sz="1500" dirty="0">
                <a:solidFill>
                  <a:srgbClr val="334155"/>
                </a:solidFill>
                <a:latin typeface="Public Sans" pitchFamily="34" charset="0"/>
                <a:ea typeface="Public Sans" pitchFamily="34" charset="-122"/>
                <a:cs typeface="Public Sans" pitchFamily="34" charset="-120"/>
              </a:rPr>
              <a:t>Maps answers to reviewed conditions</a:t>
            </a:r>
            <a:endParaRPr lang="en-US" sz="1500" dirty="0"/>
          </a:p>
          <a:p>
            <a:pPr marL="176530" indent="-176530" algn="l">
              <a:lnSpc>
                <a:spcPts val="2325"/>
              </a:lnSpc>
              <a:buSzPct val="100000"/>
              <a:buChar char="•"/>
            </a:pPr>
            <a:r>
              <a:rPr lang="en-US" sz="1500" dirty="0">
                <a:solidFill>
                  <a:srgbClr val="334155"/>
                </a:solidFill>
                <a:latin typeface="Public Sans" pitchFamily="34" charset="0"/>
                <a:ea typeface="Public Sans" pitchFamily="34" charset="-122"/>
                <a:cs typeface="Public Sans" pitchFamily="34" charset="-120"/>
              </a:rPr>
              <a:t>Returns a fixed JSON shape, not free prose</a:t>
            </a:r>
            <a:endParaRPr lang="en-US" sz="1500" dirty="0"/>
          </a:p>
        </p:txBody>
      </p:sp>
      <p:sp>
        <p:nvSpPr>
          <p:cNvPr id="13" name="Shape 8"/>
          <p:cNvSpPr/>
          <p:nvPr/>
        </p:nvSpPr>
        <p:spPr>
          <a:xfrm>
            <a:off x="6197600" y="2072639"/>
            <a:ext cx="5181600" cy="3129280"/>
          </a:xfrm>
          <a:prstGeom prst="roundRect">
            <a:avLst>
              <a:gd name="adj" fmla="val 4870"/>
            </a:avLst>
          </a:prstGeom>
          <a:solidFill>
            <a:srgbClr val="FFFFFF"/>
          </a:solidFill>
          <a:ln/>
        </p:spPr>
        <p:txBody>
          <a:bodyPr/>
          <a:lstStyle/>
          <a:p>
            <a:endParaRPr lang="en-001"/>
          </a:p>
        </p:txBody>
      </p:sp>
      <p:pic>
        <p:nvPicPr>
          <p:cNvPr id="14" name="Image 3" descr="Verified"/>
          <p:cNvPicPr>
            <a:picLocks noChangeAspect="1"/>
          </p:cNvPicPr>
          <p:nvPr/>
        </p:nvPicPr>
        <p:blipFill>
          <a:blip r:embed="rId6"/>
          <a:srcRect/>
          <a:stretch/>
        </p:blipFill>
        <p:spPr>
          <a:xfrm>
            <a:off x="6502400" y="2377439"/>
            <a:ext cx="304800" cy="304800"/>
          </a:xfrm>
          <a:prstGeom prst="rect">
            <a:avLst/>
          </a:prstGeom>
        </p:spPr>
      </p:pic>
      <p:sp>
        <p:nvSpPr>
          <p:cNvPr id="15" name="Text 9"/>
          <p:cNvSpPr/>
          <p:nvPr/>
        </p:nvSpPr>
        <p:spPr>
          <a:xfrm>
            <a:off x="6908800" y="2377439"/>
            <a:ext cx="115455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172A"/>
                </a:solidFill>
                <a:latin typeface="Public Sans" pitchFamily="34" charset="0"/>
                <a:ea typeface="Public Sans" pitchFamily="34" charset="-122"/>
                <a:cs typeface="Public Sans" pitchFamily="34" charset="-120"/>
              </a:rPr>
              <a:t>The app</a:t>
            </a:r>
            <a:endParaRPr lang="en-US" sz="2000" dirty="0"/>
          </a:p>
        </p:txBody>
      </p:sp>
      <p:sp>
        <p:nvSpPr>
          <p:cNvPr id="16" name="Text 10"/>
          <p:cNvSpPr/>
          <p:nvPr/>
        </p:nvSpPr>
        <p:spPr>
          <a:xfrm>
            <a:off x="6579870" y="2809239"/>
            <a:ext cx="4624070" cy="1206500"/>
          </a:xfrm>
          <a:prstGeom prst="rect">
            <a:avLst/>
          </a:prstGeom>
          <a:noFill/>
          <a:ln/>
        </p:spPr>
        <p:txBody>
          <a:bodyPr wrap="square" lIns="0" tIns="0" rIns="0" bIns="0" rtlCol="0" anchor="t">
            <a:normAutofit/>
          </a:bodyPr>
          <a:lstStyle/>
          <a:p>
            <a:pPr marL="176530" indent="-176530" algn="l">
              <a:lnSpc>
                <a:spcPts val="2325"/>
              </a:lnSpc>
              <a:buSzPct val="100000"/>
              <a:buChar char="•"/>
            </a:pPr>
            <a:r>
              <a:rPr lang="en-US" sz="1500" dirty="0">
                <a:solidFill>
                  <a:srgbClr val="334155"/>
                </a:solidFill>
                <a:latin typeface="Public Sans" pitchFamily="34" charset="0"/>
                <a:ea typeface="Public Sans" pitchFamily="34" charset="-122"/>
                <a:cs typeface="Public Sans" pitchFamily="34" charset="-120"/>
              </a:rPr>
              <a:t>Validates every claim against source IDs</a:t>
            </a:r>
            <a:endParaRPr lang="en-US" sz="1500" dirty="0"/>
          </a:p>
          <a:p>
            <a:pPr marL="176530" indent="-176530" algn="l">
              <a:lnSpc>
                <a:spcPts val="2325"/>
              </a:lnSpc>
              <a:buSzPct val="100000"/>
              <a:buChar char="•"/>
            </a:pPr>
            <a:r>
              <a:rPr lang="en-US" sz="1500" dirty="0">
                <a:solidFill>
                  <a:srgbClr val="334155"/>
                </a:solidFill>
                <a:latin typeface="Public Sans" pitchFamily="34" charset="0"/>
                <a:ea typeface="Public Sans" pitchFamily="34" charset="-122"/>
                <a:cs typeface="Public Sans" pitchFamily="34" charset="-120"/>
              </a:rPr>
              <a:t>Owns progress, history and map links</a:t>
            </a:r>
            <a:endParaRPr lang="en-US" sz="1500" dirty="0"/>
          </a:p>
          <a:p>
            <a:pPr marL="176530" indent="-176530" algn="l">
              <a:lnSpc>
                <a:spcPts val="2325"/>
              </a:lnSpc>
              <a:buSzPct val="100000"/>
              <a:buChar char="•"/>
            </a:pPr>
            <a:r>
              <a:rPr lang="en-US" sz="1500" dirty="0">
                <a:solidFill>
                  <a:srgbClr val="334155"/>
                </a:solidFill>
                <a:latin typeface="Public Sans" pitchFamily="34" charset="0"/>
                <a:ea typeface="Public Sans" pitchFamily="34" charset="-122"/>
                <a:cs typeface="Public Sans" pitchFamily="34" charset="-120"/>
              </a:rPr>
              <a:t>Never confirms a government approval</a:t>
            </a:r>
            <a:endParaRPr lang="en-US" sz="1500" dirty="0"/>
          </a:p>
        </p:txBody>
      </p:sp>
      <p:sp>
        <p:nvSpPr>
          <p:cNvPr id="17" name="Text 11"/>
          <p:cNvSpPr/>
          <p:nvPr/>
        </p:nvSpPr>
        <p:spPr>
          <a:xfrm>
            <a:off x="812800" y="5557521"/>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E3A8A"/>
                </a:solidFill>
                <a:latin typeface="Public Sans" pitchFamily="34" charset="0"/>
                <a:ea typeface="Public Sans" pitchFamily="34" charset="-122"/>
                <a:cs typeface="Public Sans" pitchFamily="34" charset="-120"/>
              </a:rPr>
              <a:t>When sources don't cover something, DALEELAK says so instead of guessing.</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812800" y="838200"/>
            <a:ext cx="1460500" cy="228600"/>
          </a:xfrm>
          <a:prstGeom prst="rect">
            <a:avLst/>
          </a:prstGeom>
          <a:noFill/>
          <a:ln/>
        </p:spPr>
        <p:txBody>
          <a:bodyPr wrap="square" lIns="0" tIns="0" rIns="0" bIns="0" rtlCol="0" anchor="ctr"/>
          <a:lstStyle/>
          <a:p>
            <a:pPr marL="0" indent="0">
              <a:buNone/>
            </a:pPr>
            <a:r>
              <a:rPr lang="en-US" sz="1400" b="1" kern="0" spc="200" dirty="0">
                <a:solidFill>
                  <a:srgbClr val="1E3A8A"/>
                </a:solidFill>
                <a:latin typeface="Public Sans" pitchFamily="34" charset="0"/>
                <a:ea typeface="Public Sans" pitchFamily="34" charset="-122"/>
                <a:cs typeface="Public Sans" pitchFamily="34" charset="-120"/>
              </a:rPr>
              <a:t>SCALING UP</a:t>
            </a:r>
            <a:endParaRPr lang="en-US" sz="1400" dirty="0"/>
          </a:p>
        </p:txBody>
      </p:sp>
      <p:sp>
        <p:nvSpPr>
          <p:cNvPr id="5" name="Text 3"/>
          <p:cNvSpPr txBox="1"/>
          <p:nvPr/>
        </p:nvSpPr>
        <p:spPr>
          <a:xfrm>
            <a:off x="812800" y="1206500"/>
            <a:ext cx="10160000" cy="635000"/>
          </a:xfrm>
          <a:prstGeom prst="rect">
            <a:avLst/>
          </a:prstGeom>
          <a:noFill/>
          <a:ln/>
        </p:spPr>
        <p:txBody>
          <a:bodyPr wrap="square" lIns="0" tIns="0" rIns="0" bIns="0" rtlCol="0" anchor="ctr"/>
          <a:lstStyle/>
          <a:p>
            <a:pPr marL="0" indent="0">
              <a:buNone/>
            </a:pPr>
            <a:r>
              <a:rPr lang="en-US" sz="3600" b="1" dirty="0">
                <a:solidFill>
                  <a:srgbClr val="0F172A"/>
                </a:solidFill>
                <a:latin typeface="Public Sans" pitchFamily="34" charset="0"/>
                <a:ea typeface="Public Sans" pitchFamily="34" charset="-122"/>
                <a:cs typeface="Public Sans" pitchFamily="34" charset="-120"/>
              </a:rPr>
              <a:t>Two ways to reach every citizen</a:t>
            </a:r>
            <a:endParaRPr lang="en-US" sz="3600" dirty="0"/>
          </a:p>
        </p:txBody>
      </p:sp>
      <p:sp>
        <p:nvSpPr>
          <p:cNvPr id="6" name="Path A card"/>
          <p:cNvSpPr/>
          <p:nvPr/>
        </p:nvSpPr>
        <p:spPr>
          <a:xfrm>
            <a:off x="812800" y="2095500"/>
            <a:ext cx="5181600" cy="3155950"/>
          </a:xfrm>
          <a:prstGeom prst="roundRect">
            <a:avLst>
              <a:gd name="adj" fmla="val 4829"/>
            </a:avLst>
          </a:prstGeom>
          <a:solidFill>
            <a:srgbClr val="FFFFFF"/>
          </a:solidFill>
          <a:ln w="19050">
            <a:solidFill>
              <a:srgbClr val="1E3A8A"/>
            </a:solidFill>
            <a:prstDash val="solid"/>
          </a:ln>
        </p:spPr>
        <p:txBody>
          <a:bodyPr/>
          <a:lstStyle/>
          <a:p>
            <a:endParaRPr lang="en-001"/>
          </a:p>
        </p:txBody>
      </p:sp>
      <p:sp>
        <p:nvSpPr>
          <p:cNvPr id="7" name="Text 5"/>
          <p:cNvSpPr txBox="1"/>
          <p:nvPr/>
        </p:nvSpPr>
        <p:spPr>
          <a:xfrm>
            <a:off x="1117600" y="2400300"/>
            <a:ext cx="4445000" cy="215900"/>
          </a:xfrm>
          <a:prstGeom prst="rect">
            <a:avLst/>
          </a:prstGeom>
          <a:noFill/>
          <a:ln/>
        </p:spPr>
        <p:txBody>
          <a:bodyPr wrap="square" lIns="0" tIns="0" rIns="0" bIns="0" rtlCol="0" anchor="t"/>
          <a:lstStyle/>
          <a:p>
            <a:pPr marL="0" indent="0">
              <a:buNone/>
            </a:pPr>
            <a:r>
              <a:rPr lang="en-US" sz="1300" b="1" kern="0" spc="150" dirty="0">
                <a:solidFill>
                  <a:srgbClr val="1E3A8A"/>
                </a:solidFill>
                <a:latin typeface="Public Sans" pitchFamily="34" charset="0"/>
                <a:ea typeface="Public Sans" pitchFamily="34" charset="-122"/>
                <a:cs typeface="Public Sans" pitchFamily="34" charset="-120"/>
              </a:rPr>
              <a:t>PATH A</a:t>
            </a:r>
            <a:endParaRPr lang="en-US" sz="1300" dirty="0"/>
          </a:p>
        </p:txBody>
      </p:sp>
      <p:sp>
        <p:nvSpPr>
          <p:cNvPr id="8" name="Text 6"/>
          <p:cNvSpPr txBox="1"/>
          <p:nvPr/>
        </p:nvSpPr>
        <p:spPr>
          <a:xfrm>
            <a:off x="1117600" y="2692400"/>
            <a:ext cx="4572000" cy="381000"/>
          </a:xfrm>
          <a:prstGeom prst="rect">
            <a:avLst/>
          </a:prstGeom>
          <a:noFill/>
          <a:ln/>
        </p:spPr>
        <p:txBody>
          <a:bodyPr wrap="square" lIns="0" tIns="0" rIns="0" bIns="0" rtlCol="0" anchor="t"/>
          <a:lstStyle/>
          <a:p>
            <a:pPr marL="0" indent="0">
              <a:buNone/>
            </a:pPr>
            <a:r>
              <a:rPr lang="en-US" sz="2000" b="1" dirty="0">
                <a:solidFill>
                  <a:srgbClr val="0F172A"/>
                </a:solidFill>
                <a:latin typeface="Public Sans" pitchFamily="34" charset="0"/>
                <a:ea typeface="Public Sans" pitchFamily="34" charset="-122"/>
                <a:cs typeface="Public Sans" pitchFamily="34" charset="-120"/>
              </a:rPr>
              <a:t>An extension inside Sanad</a:t>
            </a:r>
            <a:endParaRPr lang="en-US" sz="2000" dirty="0"/>
          </a:p>
        </p:txBody>
      </p:sp>
      <p:sp>
        <p:nvSpPr>
          <p:cNvPr id="9" name="Text 7"/>
          <p:cNvSpPr txBox="1"/>
          <p:nvPr/>
        </p:nvSpPr>
        <p:spPr>
          <a:xfrm>
            <a:off x="1117600" y="3175000"/>
            <a:ext cx="4572000" cy="1778000"/>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400" dirty="0">
                <a:solidFill>
                  <a:srgbClr val="334155"/>
                </a:solidFill>
                <a:latin typeface="Public Sans" pitchFamily="34" charset="0"/>
                <a:ea typeface="Public Sans" pitchFamily="34" charset="-122"/>
                <a:cs typeface="Public Sans" pitchFamily="34" charset="-120"/>
              </a:rPr>
              <a:t>Meets citizens in the app they already use</a:t>
            </a:r>
            <a:endParaRPr lang="en-US" sz="1400" dirty="0"/>
          </a:p>
          <a:p>
            <a:pPr marL="203200" indent="-203200">
              <a:lnSpc>
                <a:spcPct val="115000"/>
              </a:lnSpc>
              <a:spcAft>
                <a:spcPts val="600"/>
              </a:spcAft>
              <a:buSzPct val="100000"/>
              <a:buChar char="•"/>
            </a:pPr>
            <a:r>
              <a:rPr lang="en-US" sz="1400" dirty="0">
                <a:solidFill>
                  <a:srgbClr val="334155"/>
                </a:solidFill>
                <a:latin typeface="Public Sans" pitchFamily="34" charset="0"/>
                <a:ea typeface="Public Sans" pitchFamily="34" charset="-122"/>
                <a:cs typeface="Public Sans" pitchFamily="34" charset="-120"/>
              </a:rPr>
              <a:t>Reuses Sanad sign-in, booking and e-services</a:t>
            </a:r>
            <a:endParaRPr lang="en-US" sz="1400" dirty="0"/>
          </a:p>
          <a:p>
            <a:pPr marL="203200" indent="-203200">
              <a:lnSpc>
                <a:spcPct val="115000"/>
              </a:lnSpc>
              <a:spcAft>
                <a:spcPts val="600"/>
              </a:spcAft>
              <a:buSzPct val="100000"/>
              <a:buChar char="•"/>
            </a:pPr>
            <a:r>
              <a:rPr lang="en-US" sz="1400" dirty="0">
                <a:solidFill>
                  <a:srgbClr val="334155"/>
                </a:solidFill>
                <a:latin typeface="Public Sans" pitchFamily="34" charset="0"/>
                <a:ea typeface="Public Sans" pitchFamily="34" charset="-122"/>
                <a:cs typeface="Public Sans" pitchFamily="34" charset="-120"/>
              </a:rPr>
              <a:t>DALEELAK becomes the guide layer on top</a:t>
            </a:r>
            <a:endParaRPr lang="en-US" sz="1400" dirty="0"/>
          </a:p>
          <a:p>
            <a:pPr marL="203200" indent="-203200">
              <a:lnSpc>
                <a:spcPct val="115000"/>
              </a:lnSpc>
              <a:spcAft>
                <a:spcPts val="600"/>
              </a:spcAft>
              <a:buSzPct val="100000"/>
              <a:buChar char="•"/>
            </a:pPr>
            <a:r>
              <a:rPr lang="en-US" sz="1400" dirty="0">
                <a:solidFill>
                  <a:srgbClr val="334155"/>
                </a:solidFill>
                <a:latin typeface="Public Sans" pitchFamily="34" charset="0"/>
                <a:ea typeface="Public Sans" pitchFamily="34" charset="-122"/>
                <a:cs typeface="Public Sans" pitchFamily="34" charset="-120"/>
              </a:rPr>
              <a:t>Needs a MoDEE partnership and API access</a:t>
            </a:r>
            <a:endParaRPr lang="en-US" sz="1400" dirty="0"/>
          </a:p>
        </p:txBody>
      </p:sp>
      <p:sp>
        <p:nvSpPr>
          <p:cNvPr id="10" name="Path B card"/>
          <p:cNvSpPr/>
          <p:nvPr/>
        </p:nvSpPr>
        <p:spPr>
          <a:xfrm>
            <a:off x="6210300" y="2095500"/>
            <a:ext cx="5181600" cy="3155950"/>
          </a:xfrm>
          <a:prstGeom prst="roundRect">
            <a:avLst>
              <a:gd name="adj" fmla="val 4829"/>
            </a:avLst>
          </a:prstGeom>
          <a:solidFill>
            <a:srgbClr val="FFFFFF"/>
          </a:solidFill>
          <a:ln w="9525">
            <a:solidFill>
              <a:srgbClr val="E2E8F0"/>
            </a:solidFill>
            <a:prstDash val="solid"/>
          </a:ln>
        </p:spPr>
        <p:txBody>
          <a:bodyPr/>
          <a:lstStyle/>
          <a:p>
            <a:endParaRPr lang="en-001"/>
          </a:p>
        </p:txBody>
      </p:sp>
      <p:sp>
        <p:nvSpPr>
          <p:cNvPr id="11" name="Text 9"/>
          <p:cNvSpPr txBox="1"/>
          <p:nvPr/>
        </p:nvSpPr>
        <p:spPr>
          <a:xfrm>
            <a:off x="6515100" y="2400300"/>
            <a:ext cx="4445000" cy="215900"/>
          </a:xfrm>
          <a:prstGeom prst="rect">
            <a:avLst/>
          </a:prstGeom>
          <a:noFill/>
          <a:ln/>
        </p:spPr>
        <p:txBody>
          <a:bodyPr wrap="square" lIns="0" tIns="0" rIns="0" bIns="0" rtlCol="0" anchor="t"/>
          <a:lstStyle/>
          <a:p>
            <a:pPr marL="0" indent="0">
              <a:buNone/>
            </a:pPr>
            <a:r>
              <a:rPr lang="en-US" sz="1300" b="1" kern="0" spc="150" dirty="0">
                <a:solidFill>
                  <a:srgbClr val="B45309"/>
                </a:solidFill>
                <a:latin typeface="Public Sans" pitchFamily="34" charset="0"/>
                <a:ea typeface="Public Sans" pitchFamily="34" charset="-122"/>
                <a:cs typeface="Public Sans" pitchFamily="34" charset="-120"/>
              </a:rPr>
              <a:t>PATH B</a:t>
            </a:r>
            <a:endParaRPr lang="en-US" sz="1300" dirty="0"/>
          </a:p>
        </p:txBody>
      </p:sp>
      <p:sp>
        <p:nvSpPr>
          <p:cNvPr id="12" name="Text 10"/>
          <p:cNvSpPr txBox="1"/>
          <p:nvPr/>
        </p:nvSpPr>
        <p:spPr>
          <a:xfrm>
            <a:off x="6515100" y="2692400"/>
            <a:ext cx="4572000" cy="381000"/>
          </a:xfrm>
          <a:prstGeom prst="rect">
            <a:avLst/>
          </a:prstGeom>
          <a:noFill/>
          <a:ln/>
        </p:spPr>
        <p:txBody>
          <a:bodyPr wrap="square" lIns="0" tIns="0" rIns="0" bIns="0" rtlCol="0" anchor="t"/>
          <a:lstStyle/>
          <a:p>
            <a:pPr marL="0" indent="0">
              <a:buNone/>
            </a:pPr>
            <a:r>
              <a:rPr lang="en-US" sz="2000" b="1" dirty="0">
                <a:solidFill>
                  <a:srgbClr val="0F172A"/>
                </a:solidFill>
                <a:latin typeface="Public Sans" pitchFamily="34" charset="0"/>
                <a:ea typeface="Public Sans" pitchFamily="34" charset="-122"/>
                <a:cs typeface="Public Sans" pitchFamily="34" charset="-120"/>
              </a:rPr>
              <a:t>A standalone national platform</a:t>
            </a:r>
            <a:endParaRPr lang="en-US" sz="2000" dirty="0"/>
          </a:p>
        </p:txBody>
      </p:sp>
      <p:sp>
        <p:nvSpPr>
          <p:cNvPr id="13" name="Text 11"/>
          <p:cNvSpPr txBox="1"/>
          <p:nvPr/>
        </p:nvSpPr>
        <p:spPr>
          <a:xfrm>
            <a:off x="6515100" y="3175000"/>
            <a:ext cx="4572000" cy="1778000"/>
          </a:xfrm>
          <a:prstGeom prst="rect">
            <a:avLst/>
          </a:prstGeom>
          <a:noFill/>
          <a:ln/>
        </p:spPr>
        <p:txBody>
          <a:bodyPr wrap="square" lIns="0" tIns="0" rIns="0" bIns="0" rtlCol="0" anchor="t"/>
          <a:lstStyle/>
          <a:p>
            <a:pPr marL="203200" indent="-203200">
              <a:lnSpc>
                <a:spcPct val="115000"/>
              </a:lnSpc>
              <a:spcAft>
                <a:spcPts val="600"/>
              </a:spcAft>
              <a:buSzPct val="100000"/>
              <a:buChar char="•"/>
            </a:pPr>
            <a:r>
              <a:rPr lang="en-US" sz="1400" dirty="0">
                <a:solidFill>
                  <a:srgbClr val="334155"/>
                </a:solidFill>
                <a:latin typeface="Public Sans" pitchFamily="34" charset="0"/>
                <a:ea typeface="Public Sans" pitchFamily="34" charset="-122"/>
                <a:cs typeface="Public Sans" pitchFamily="34" charset="-120"/>
              </a:rPr>
              <a:t>An officially approved guide for all services</a:t>
            </a:r>
            <a:endParaRPr lang="en-US" sz="1400" dirty="0"/>
          </a:p>
          <a:p>
            <a:pPr marL="203200" indent="-203200">
              <a:lnSpc>
                <a:spcPct val="115000"/>
              </a:lnSpc>
              <a:spcAft>
                <a:spcPts val="600"/>
              </a:spcAft>
              <a:buSzPct val="100000"/>
              <a:buChar char="•"/>
            </a:pPr>
            <a:r>
              <a:rPr lang="en-US" sz="1400" dirty="0">
                <a:solidFill>
                  <a:srgbClr val="334155"/>
                </a:solidFill>
                <a:latin typeface="Public Sans" pitchFamily="34" charset="0"/>
                <a:ea typeface="Public Sans" pitchFamily="34" charset="-122"/>
                <a:cs typeface="Public Sans" pitchFamily="34" charset="-120"/>
              </a:rPr>
              <a:t>Covers in-person procedures, not only online ones</a:t>
            </a:r>
            <a:endParaRPr lang="en-US" sz="1400" dirty="0"/>
          </a:p>
          <a:p>
            <a:pPr marL="203200" indent="-203200">
              <a:lnSpc>
                <a:spcPct val="115000"/>
              </a:lnSpc>
              <a:spcAft>
                <a:spcPts val="600"/>
              </a:spcAft>
              <a:buSzPct val="100000"/>
              <a:buChar char="•"/>
            </a:pPr>
            <a:r>
              <a:rPr lang="en-US" sz="1400" dirty="0">
                <a:solidFill>
                  <a:srgbClr val="334155"/>
                </a:solidFill>
                <a:latin typeface="Public Sans" pitchFamily="34" charset="0"/>
                <a:ea typeface="Public Sans" pitchFamily="34" charset="-122"/>
                <a:cs typeface="Public Sans" pitchFamily="34" charset="-120"/>
              </a:rPr>
              <a:t>Links out to Sanad and service centres</a:t>
            </a:r>
            <a:endParaRPr lang="en-US" sz="1400" dirty="0"/>
          </a:p>
          <a:p>
            <a:pPr marL="203200" indent="-203200">
              <a:lnSpc>
                <a:spcPct val="115000"/>
              </a:lnSpc>
              <a:spcAft>
                <a:spcPts val="600"/>
              </a:spcAft>
              <a:buSzPct val="100000"/>
              <a:buChar char="•"/>
            </a:pPr>
            <a:r>
              <a:rPr lang="en-US" sz="1400" dirty="0">
                <a:solidFill>
                  <a:srgbClr val="334155"/>
                </a:solidFill>
                <a:latin typeface="Public Sans" pitchFamily="34" charset="0"/>
                <a:ea typeface="Public Sans" pitchFamily="34" charset="-122"/>
                <a:cs typeface="Public Sans" pitchFamily="34" charset="-120"/>
              </a:rPr>
              <a:t>Needs government approval and official data</a:t>
            </a:r>
            <a:endParaRPr lang="en-US" sz="1400" dirty="0"/>
          </a:p>
        </p:txBody>
      </p:sp>
      <p:sp>
        <p:nvSpPr>
          <p:cNvPr id="14" name="Text 12"/>
          <p:cNvSpPr txBox="1"/>
          <p:nvPr/>
        </p:nvSpPr>
        <p:spPr>
          <a:xfrm>
            <a:off x="812800" y="5575300"/>
            <a:ext cx="10566400" cy="317500"/>
          </a:xfrm>
          <a:prstGeom prst="rect">
            <a:avLst/>
          </a:prstGeom>
          <a:noFill/>
          <a:ln/>
        </p:spPr>
        <p:txBody>
          <a:bodyPr wrap="square" lIns="0" tIns="0" rIns="0" bIns="0" rtlCol="0" anchor="ctr"/>
          <a:lstStyle/>
          <a:p>
            <a:pPr marL="0" indent="0">
              <a:buNone/>
            </a:pPr>
            <a:r>
              <a:rPr lang="en-US" sz="1500" b="1" dirty="0">
                <a:solidFill>
                  <a:srgbClr val="1E3A8A"/>
                </a:solidFill>
                <a:latin typeface="Public Sans" pitchFamily="34" charset="0"/>
                <a:ea typeface="Public Sans" pitchFamily="34" charset="-122"/>
                <a:cs typeface="Public Sans" pitchFamily="34" charset="-120"/>
              </a:rPr>
              <a:t>Same core either way: reviewed sources, AI interpretation and exact app logic.</a:t>
            </a:r>
            <a:endParaRPr lang="en-US" sz="1500" dirty="0"/>
          </a:p>
        </p:txBody>
      </p:sp>
      <p:sp>
        <p:nvSpPr>
          <p:cNvPr id="15" name="Text 13"/>
          <p:cNvSpPr txBox="1"/>
          <p:nvPr/>
        </p:nvSpPr>
        <p:spPr>
          <a:xfrm>
            <a:off x="812800" y="6261100"/>
            <a:ext cx="10566400" cy="203200"/>
          </a:xfrm>
          <a:prstGeom prst="rect">
            <a:avLst/>
          </a:prstGeom>
          <a:noFill/>
          <a:ln/>
        </p:spPr>
        <p:txBody>
          <a:bodyPr wrap="square" lIns="0" tIns="0" rIns="0" bIns="0" rtlCol="0" anchor="ctr"/>
          <a:lstStyle/>
          <a:p>
            <a:pPr marL="0" indent="0">
              <a:buNone/>
            </a:pPr>
            <a:r>
              <a:rPr lang="en-US" sz="1200" dirty="0">
                <a:solidFill>
                  <a:srgbClr val="64748B"/>
                </a:solidFill>
                <a:latin typeface="Public Sans" pitchFamily="34" charset="0"/>
                <a:ea typeface="Public Sans" pitchFamily="34" charset="-122"/>
                <a:cs typeface="Public Sans" pitchFamily="34" charset="-120"/>
              </a:rPr>
              <a:t>DALEELAK · 12 · MoDEE's AI implementation plan already proposes conversational and voice features for Sanad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1E3A8A"/>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24429C"/>
              </a:gs>
              <a:gs pos="45000">
                <a:srgbClr val="1E3A8A"/>
              </a:gs>
              <a:gs pos="100000">
                <a:srgbClr val="142A66"/>
              </a:gs>
            </a:gsLst>
            <a:lin ang="2700000" scaled="0"/>
          </a:gradFill>
          <a:ln/>
        </p:spPr>
        <p:txBody>
          <a:bodyPr/>
          <a:lstStyle/>
          <a:p>
            <a:endParaRPr lang="en-001" dirty="0"/>
          </a:p>
        </p:txBody>
      </p:sp>
      <p:sp>
        <p:nvSpPr>
          <p:cNvPr id="3" name="Shape 1"/>
          <p:cNvSpPr/>
          <p:nvPr/>
        </p:nvSpPr>
        <p:spPr>
          <a:xfrm>
            <a:off x="7112000" y="0"/>
            <a:ext cx="5080000" cy="4064000"/>
          </a:xfrm>
          <a:prstGeom prst="rect">
            <a:avLst/>
          </a:prstGeom>
          <a:gradFill rotWithShape="1">
            <a:gsLst>
              <a:gs pos="0">
                <a:srgbClr val="93BBF7">
                  <a:alpha val="24000"/>
                </a:srgbClr>
              </a:gs>
              <a:gs pos="40000">
                <a:srgbClr val="93BBF7">
                  <a:alpha val="8000"/>
                </a:srgbClr>
              </a:gs>
              <a:gs pos="72000">
                <a:srgbClr val="93BBF7">
                  <a:alpha val="0"/>
                </a:srgbClr>
              </a:gs>
            </a:gsLst>
            <a:path path="circle">
              <a:fillToRect l="100000" b="100000"/>
            </a:path>
          </a:gradFill>
          <a:ln/>
        </p:spPr>
        <p:txBody>
          <a:bodyPr/>
          <a:lstStyle/>
          <a:p>
            <a:endParaRPr lang="en-001"/>
          </a:p>
        </p:txBody>
      </p:sp>
      <p:sp>
        <p:nvSpPr>
          <p:cNvPr id="4" name="Shape 2"/>
          <p:cNvSpPr/>
          <p:nvPr/>
        </p:nvSpPr>
        <p:spPr>
          <a:xfrm>
            <a:off x="0" y="3937000"/>
            <a:ext cx="5715000" cy="2921000"/>
          </a:xfrm>
          <a:prstGeom prst="rect">
            <a:avLst/>
          </a:prstGeom>
          <a:gradFill rotWithShape="1">
            <a:gsLst>
              <a:gs pos="0">
                <a:srgbClr val="F59E0B">
                  <a:alpha val="20000"/>
                </a:srgbClr>
              </a:gs>
              <a:gs pos="40000">
                <a:srgbClr val="F59E0B">
                  <a:alpha val="7000"/>
                </a:srgbClr>
              </a:gs>
              <a:gs pos="70000">
                <a:srgbClr val="F59E0B">
                  <a:alpha val="0"/>
                </a:srgbClr>
              </a:gs>
            </a:gsLst>
            <a:path path="circle">
              <a:fillToRect t="100000" r="100000"/>
            </a:path>
          </a:gradFill>
          <a:ln/>
        </p:spPr>
        <p:txBody>
          <a:bodyPr/>
          <a:lstStyle/>
          <a:p>
            <a:endParaRPr lang="en-001"/>
          </a:p>
        </p:txBody>
      </p:sp>
      <p:pic>
        <p:nvPicPr>
          <p:cNvPr id="5" name="Image 0" descr="ellipse"/>
          <p:cNvPicPr>
            <a:picLocks noChangeAspect="1"/>
          </p:cNvPicPr>
          <p:nvPr/>
        </p:nvPicPr>
        <p:blipFill>
          <a:blip r:embed="rId3"/>
          <a:srcRect/>
          <a:stretch/>
        </p:blipFill>
        <p:spPr>
          <a:xfrm>
            <a:off x="9779000" y="304800"/>
            <a:ext cx="2032000" cy="2032000"/>
          </a:xfrm>
          <a:prstGeom prst="rect">
            <a:avLst/>
          </a:prstGeom>
        </p:spPr>
      </p:pic>
      <p:pic>
        <p:nvPicPr>
          <p:cNvPr id="6" name="Image 1" descr="ellipse"/>
          <p:cNvPicPr>
            <a:picLocks noChangeAspect="1"/>
          </p:cNvPicPr>
          <p:nvPr/>
        </p:nvPicPr>
        <p:blipFill>
          <a:blip r:embed="rId4"/>
          <a:srcRect/>
          <a:stretch/>
        </p:blipFill>
        <p:spPr>
          <a:xfrm>
            <a:off x="9461500" y="0"/>
            <a:ext cx="2667000" cy="2667000"/>
          </a:xfrm>
          <a:prstGeom prst="rect">
            <a:avLst/>
          </a:prstGeom>
        </p:spPr>
      </p:pic>
      <p:sp>
        <p:nvSpPr>
          <p:cNvPr id="8" name="Text 3"/>
          <p:cNvSpPr/>
          <p:nvPr/>
        </p:nvSpPr>
        <p:spPr>
          <a:xfrm>
            <a:off x="812800" y="812800"/>
            <a:ext cx="10883392" cy="523240"/>
          </a:xfrm>
          <a:prstGeom prst="rect">
            <a:avLst/>
          </a:prstGeom>
          <a:noFill/>
          <a:ln/>
        </p:spPr>
        <p:txBody>
          <a:bodyPr wrap="square" lIns="0" tIns="0" rIns="0" bIns="0" rtlCol="0" anchor="t">
            <a:normAutofit/>
          </a:bodyPr>
          <a:lstStyle/>
          <a:p>
            <a:pPr marL="0" indent="0" algn="l">
              <a:lnSpc>
                <a:spcPts val="3920"/>
              </a:lnSpc>
              <a:buNone/>
            </a:pPr>
            <a:endParaRPr lang="en-US" sz="2800" dirty="0"/>
          </a:p>
        </p:txBody>
      </p:sp>
      <p:sp>
        <p:nvSpPr>
          <p:cNvPr id="9" name="Text 4"/>
          <p:cNvSpPr>
            <a:spLocks noGrp="1"/>
          </p:cNvSpPr>
          <p:nvPr>
            <p:ph type="title"/>
          </p:nvPr>
        </p:nvSpPr>
        <p:spPr>
          <a:xfrm>
            <a:off x="812800" y="2234673"/>
            <a:ext cx="9236270" cy="1342178"/>
          </a:xfrm>
          <a:prstGeom prst="rect">
            <a:avLst/>
          </a:prstGeom>
          <a:noFill/>
          <a:ln/>
        </p:spPr>
        <p:txBody>
          <a:bodyPr wrap="square" lIns="0" tIns="0" rIns="0" bIns="0" rtlCol="0" anchor="t">
            <a:normAutofit/>
          </a:bodyPr>
          <a:lstStyle/>
          <a:p>
            <a:pPr marL="0" indent="0" algn="l">
              <a:lnSpc>
                <a:spcPts val="5184"/>
              </a:lnSpc>
              <a:buNone/>
            </a:pPr>
            <a:r>
              <a:rPr lang="en-US" sz="4000" b="1" i="0" kern="0" spc="-50" dirty="0">
                <a:solidFill>
                  <a:srgbClr val="F8FAFC"/>
                </a:solidFill>
                <a:latin typeface="Public Sans" pitchFamily="34" charset="0"/>
                <a:ea typeface="Public Sans" pitchFamily="34" charset="-122"/>
                <a:cs typeface="Public Sans" pitchFamily="34" charset="-120"/>
              </a:rPr>
              <a:t>Less guessing about what to do, what to bring and where to go.</a:t>
            </a:r>
            <a:endParaRPr lang="en-US" sz="4000" dirty="0"/>
          </a:p>
        </p:txBody>
      </p:sp>
      <p:sp>
        <p:nvSpPr>
          <p:cNvPr id="10" name="Text 5"/>
          <p:cNvSpPr/>
          <p:nvPr/>
        </p:nvSpPr>
        <p:spPr>
          <a:xfrm>
            <a:off x="812800" y="3805448"/>
            <a:ext cx="9810750"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DBEAFE"/>
                </a:solidFill>
                <a:latin typeface="Public Sans" pitchFamily="34" charset="0"/>
                <a:ea typeface="Public Sans" pitchFamily="34" charset="-122"/>
                <a:cs typeface="Public Sans" pitchFamily="34" charset="-120"/>
              </a:rPr>
              <a:t>Thank you. We'd love your questions and a few minutes of feedback after the demo.</a:t>
            </a:r>
            <a:endParaRPr lang="en-US" sz="2000" dirty="0"/>
          </a:p>
        </p:txBody>
      </p:sp>
      <p:sp>
        <p:nvSpPr>
          <p:cNvPr id="11" name="Text 6"/>
          <p:cNvSpPr/>
          <p:nvPr/>
        </p:nvSpPr>
        <p:spPr>
          <a:xfrm>
            <a:off x="812800" y="5593079"/>
            <a:ext cx="6380480" cy="274320"/>
          </a:xfrm>
          <a:prstGeom prst="rect">
            <a:avLst/>
          </a:prstGeom>
          <a:noFill/>
          <a:ln/>
        </p:spPr>
        <p:txBody>
          <a:bodyPr wrap="square" lIns="0" tIns="0" rIns="0" bIns="0" rtlCol="0" anchor="t">
            <a:normAutofit fontScale="92500"/>
          </a:bodyPr>
          <a:lstStyle/>
          <a:p>
            <a:pPr>
              <a:lnSpc>
                <a:spcPts val="1960"/>
              </a:lnSpc>
            </a:pPr>
            <a:r>
              <a:rPr lang="en-US" sz="1400" dirty="0" err="1">
                <a:solidFill>
                  <a:srgbClr val="BFD3F7"/>
                </a:solidFill>
                <a:latin typeface="Public Sans" pitchFamily="34" charset="0"/>
                <a:ea typeface="Public Sans" pitchFamily="34" charset="-122"/>
                <a:cs typeface="Public Sans" pitchFamily="34" charset="-120"/>
              </a:rPr>
              <a:t>Microslop</a:t>
            </a:r>
            <a:r>
              <a:rPr lang="en-US" sz="1400" dirty="0">
                <a:solidFill>
                  <a:srgbClr val="BFD3F7"/>
                </a:solidFill>
                <a:latin typeface="Public Sans" pitchFamily="34" charset="0"/>
                <a:ea typeface="Public Sans" pitchFamily="34" charset="-122"/>
                <a:cs typeface="Public Sans" pitchFamily="34" charset="-120"/>
              </a:rPr>
              <a:t> · Ward Saleh · Ameen </a:t>
            </a:r>
            <a:r>
              <a:rPr lang="en-US" sz="1400" dirty="0" err="1">
                <a:solidFill>
                  <a:srgbClr val="BFD3F7"/>
                </a:solidFill>
                <a:latin typeface="Public Sans" pitchFamily="34" charset="0"/>
                <a:ea typeface="Public Sans" pitchFamily="34" charset="-122"/>
                <a:cs typeface="Public Sans" pitchFamily="34" charset="-120"/>
              </a:rPr>
              <a:t>Sonjuq</a:t>
            </a:r>
            <a:r>
              <a:rPr lang="en-US" sz="1400" dirty="0">
                <a:solidFill>
                  <a:srgbClr val="BFD3F7"/>
                </a:solidFill>
                <a:latin typeface="Public Sans" pitchFamily="34" charset="0"/>
                <a:ea typeface="Public Sans" pitchFamily="34" charset="-122"/>
                <a:cs typeface="Public Sans" pitchFamily="34" charset="-120"/>
              </a:rPr>
              <a:t> · Ahmad Odeh · Ali </a:t>
            </a:r>
            <a:r>
              <a:rPr lang="en-US" sz="1400" dirty="0" err="1">
                <a:solidFill>
                  <a:srgbClr val="BFD3F7"/>
                </a:solidFill>
                <a:latin typeface="Public Sans" pitchFamily="34" charset="0"/>
                <a:ea typeface="Public Sans" pitchFamily="34" charset="-122"/>
                <a:cs typeface="Public Sans" pitchFamily="34" charset="-120"/>
              </a:rPr>
              <a:t>Shqair</a:t>
            </a:r>
            <a:r>
              <a:rPr lang="en-US" sz="1400" dirty="0">
                <a:solidFill>
                  <a:srgbClr val="BFD3F7"/>
                </a:solidFill>
                <a:latin typeface="Public Sans" pitchFamily="34" charset="0"/>
                <a:ea typeface="Public Sans" pitchFamily="34" charset="-122"/>
                <a:cs typeface="Public Sans" pitchFamily="34" charset="-120"/>
              </a:rPr>
              <a:t> · Eyas </a:t>
            </a:r>
            <a:r>
              <a:rPr lang="en-US" sz="1400" dirty="0" err="1">
                <a:solidFill>
                  <a:srgbClr val="BFD3F7"/>
                </a:solidFill>
                <a:latin typeface="Public Sans" pitchFamily="34" charset="0"/>
                <a:ea typeface="Public Sans" pitchFamily="34" charset="-122"/>
                <a:cs typeface="Public Sans" pitchFamily="34" charset="-120"/>
              </a:rPr>
              <a:t>Dmour</a:t>
            </a:r>
            <a:r>
              <a:rPr lang="en-US" sz="1400" dirty="0">
                <a:solidFill>
                  <a:srgbClr val="BFD3F7"/>
                </a:solidFill>
                <a:latin typeface="Public Sans" pitchFamily="34" charset="0"/>
                <a:ea typeface="Public Sans" pitchFamily="34" charset="-122"/>
                <a:cs typeface="Public Sans" pitchFamily="34" charset="-120"/>
              </a:rPr>
              <a:t> · October 2026</a:t>
            </a:r>
            <a:endParaRPr lang="en-US" sz="1400" dirty="0"/>
          </a:p>
        </p:txBody>
      </p:sp>
      <p:pic>
        <p:nvPicPr>
          <p:cNvPr id="14" name="Picture 13">
            <a:extLst>
              <a:ext uri="{FF2B5EF4-FFF2-40B4-BE49-F238E27FC236}">
                <a16:creationId xmlns:a16="http://schemas.microsoft.com/office/drawing/2014/main" id="{0388FC19-605E-6840-FAAE-AA690486A8C4}"/>
              </a:ext>
            </a:extLst>
          </p:cNvPr>
          <p:cNvPicPr>
            <a:picLocks noChangeAspect="1"/>
          </p:cNvPicPr>
          <p:nvPr/>
        </p:nvPicPr>
        <p:blipFill>
          <a:blip r:embed="rId5"/>
          <a:stretch>
            <a:fillRect/>
          </a:stretch>
        </p:blipFill>
        <p:spPr>
          <a:xfrm>
            <a:off x="812800" y="0"/>
            <a:ext cx="2146689" cy="2146689"/>
          </a:xfrm>
          <a:prstGeom prst="rect">
            <a:avLst/>
          </a:prstGeom>
        </p:spPr>
      </p:pic>
    </p:spTree>
  </p:cSld>
  <p:clrMapOvr>
    <a:masterClrMapping/>
  </p:clrMapOvr>
</p:sld>
</file>

<file path=ppt/theme/theme1.xml><?xml version="1.0" encoding="utf-8"?>
<a:theme xmlns:a="http://schemas.openxmlformats.org/drawingml/2006/main" name="DALEELAK Pitch Deck">
  <a:themeElements>
    <a:clrScheme name="DALEELAK Pitch Deck">
      <a:dk1>
        <a:srgbClr val="141413"/>
      </a:dk1>
      <a:lt1>
        <a:srgbClr val="F8FAFC"/>
      </a:lt1>
      <a:dk2>
        <a:srgbClr val="4D4E4D"/>
      </a:dk2>
      <a:lt2>
        <a:srgbClr val="E1E3E5"/>
      </a:lt2>
      <a:accent1>
        <a:srgbClr val="1E3A8A"/>
      </a:accent1>
      <a:accent2>
        <a:srgbClr val="64748B"/>
      </a:accent2>
      <a:accent3>
        <a:srgbClr val="B45309"/>
      </a:accent3>
      <a:accent4>
        <a:srgbClr val="BFD3F7"/>
      </a:accent4>
      <a:accent5>
        <a:srgbClr val="C9DBFA"/>
      </a:accent5>
      <a:accent6>
        <a:srgbClr val="24429C"/>
      </a:accent6>
      <a:hlink>
        <a:srgbClr val="0563C1"/>
      </a:hlink>
      <a:folHlink>
        <a:srgbClr val="954F72"/>
      </a:folHlink>
    </a:clrScheme>
    <a:fontScheme name="DALEELAK Pitch Deck">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BF53681-69A6-473B-843B-90739116DC43}">
  <we:reference id="f5f369e5-aa35-49d7-ad7b-638152ddb008" version="1.0.0.1" store="EXCatalog" storeType="EXCatalog"/>
  <we:alternateReferences>
    <we:reference id="WA200010001" version="1.0.0.1" store="en-US" storeType="OMEX"/>
  </we:alternateReferences>
  <we:properties>
    <we:property name="claude.fileId" value="&quot;0aa6f8cc-7dcb-411c-999c-97446d32076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145</TotalTime>
  <Words>972</Words>
  <Application>Microsoft Office PowerPoint</Application>
  <PresentationFormat>Widescreen</PresentationFormat>
  <Paragraphs>101</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IBM Plex Sans Arabic</vt:lpstr>
      <vt:lpstr>Public Sans</vt:lpstr>
      <vt:lpstr>DALEELAK Pitch Deck</vt:lpstr>
      <vt:lpstr>DALEELAK</vt:lpstr>
      <vt:lpstr>People know what went wrong They rarely know which procedure fixes it</vt:lpstr>
      <vt:lpstr>Say it in your own words Get a plan you can follow</vt:lpstr>
      <vt:lpstr>Five small steps into a clear organized solution</vt:lpstr>
      <vt:lpstr>Replacing a lost family book</vt:lpstr>
      <vt:lpstr>The AI interprets. Reviewed sources decide.</vt:lpstr>
      <vt:lpstr>PowerPoint Presentation</vt:lpstr>
      <vt:lpstr>Less guessing about what to do, what to bring and where to go.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DALEELAK Pitch Deck</dc:title>
  <dc:subject/>
  <dc:creator/>
  <cp:lastModifiedBy>Ward Saleh</cp:lastModifiedBy>
  <cp:revision>5</cp:revision>
  <dcterms:created xsi:type="dcterms:W3CDTF">2026-10-10T07:00:54Z</dcterms:created>
  <dcterms:modified xsi:type="dcterms:W3CDTF">2026-10-10T09:35:13Z</dcterms:modified>
</cp:coreProperties>
</file>